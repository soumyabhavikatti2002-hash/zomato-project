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sldIdLst>
    <p:sldId id="257" r:id="rId2"/>
    <p:sldId id="258" r:id="rId3"/>
    <p:sldId id="259" r:id="rId4"/>
    <p:sldId id="260" r:id="rId5"/>
    <p:sldId id="262" r:id="rId6"/>
    <p:sldId id="263" r:id="rId7"/>
    <p:sldId id="261" r:id="rId8"/>
    <p:sldId id="264" r:id="rId9"/>
    <p:sldId id="265"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4660"/>
  </p:normalViewPr>
  <p:slideViewPr>
    <p:cSldViewPr snapToGrid="0">
      <p:cViewPr varScale="1">
        <p:scale>
          <a:sx n="82" d="100"/>
          <a:sy n="82" d="100"/>
        </p:scale>
        <p:origin x="87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72ABF035-18C0-4FD2-AD02-F3BF6316E921}" type="datetimeFigureOut">
              <a:rPr lang="en-IN" smtClean="0"/>
              <a:t>28-10-2025</a:t>
            </a:fld>
            <a:endParaRPr lang="en-IN"/>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IN"/>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F17B5F7B-2797-404A-9FEC-097A299DB799}" type="slidenum">
              <a:rPr lang="en-IN" smtClean="0"/>
              <a:t>‹#›</a:t>
            </a:fld>
            <a:endParaRPr lang="en-IN"/>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9568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ABF035-18C0-4FD2-AD02-F3BF6316E921}" type="datetimeFigureOut">
              <a:rPr lang="en-IN" smtClean="0"/>
              <a:t>28-10-2025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7B5F7B-2797-404A-9FEC-097A299DB799}" type="slidenum">
              <a:rPr lang="en-IN" smtClean="0"/>
              <a:t>‹#›</a:t>
            </a:fld>
            <a:endParaRPr lang="en-IN"/>
          </a:p>
        </p:txBody>
      </p:sp>
    </p:spTree>
    <p:extLst>
      <p:ext uri="{BB962C8B-B14F-4D97-AF65-F5344CB8AC3E}">
        <p14:creationId xmlns:p14="http://schemas.microsoft.com/office/powerpoint/2010/main" val="3458200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ABF035-18C0-4FD2-AD02-F3BF6316E921}" type="datetimeFigureOut">
              <a:rPr lang="en-IN" smtClean="0"/>
              <a:t>28-10-2025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7B5F7B-2797-404A-9FEC-097A299DB799}" type="slidenum">
              <a:rPr lang="en-IN" smtClean="0"/>
              <a:t>‹#›</a:t>
            </a:fld>
            <a:endParaRPr lang="en-IN"/>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7935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2ABF035-18C0-4FD2-AD02-F3BF6316E921}" type="datetimeFigureOut">
              <a:rPr lang="en-IN" smtClean="0"/>
              <a:t>28-10-2025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7B5F7B-2797-404A-9FEC-097A299DB799}" type="slidenum">
              <a:rPr lang="en-IN" smtClean="0"/>
              <a:t>‹#›</a:t>
            </a:fld>
            <a:endParaRPr lang="en-IN"/>
          </a:p>
        </p:txBody>
      </p:sp>
    </p:spTree>
    <p:extLst>
      <p:ext uri="{BB962C8B-B14F-4D97-AF65-F5344CB8AC3E}">
        <p14:creationId xmlns:p14="http://schemas.microsoft.com/office/powerpoint/2010/main" val="2785107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2ABF035-18C0-4FD2-AD02-F3BF6316E921}" type="datetimeFigureOut">
              <a:rPr lang="en-IN" smtClean="0"/>
              <a:t>28-10-2025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17B5F7B-2797-404A-9FEC-097A299DB799}" type="slidenum">
              <a:rPr lang="en-IN" smtClean="0"/>
              <a:t>‹#›</a:t>
            </a:fld>
            <a:endParaRPr lang="en-IN"/>
          </a:p>
        </p:txBody>
      </p:sp>
    </p:spTree>
    <p:extLst>
      <p:ext uri="{BB962C8B-B14F-4D97-AF65-F5344CB8AC3E}">
        <p14:creationId xmlns:p14="http://schemas.microsoft.com/office/powerpoint/2010/main" val="4074915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2ABF035-18C0-4FD2-AD02-F3BF6316E921}" type="datetimeFigureOut">
              <a:rPr lang="en-IN" smtClean="0"/>
              <a:t>28-10-2025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17B5F7B-2797-404A-9FEC-097A299DB799}" type="slidenum">
              <a:rPr lang="en-IN" smtClean="0"/>
              <a:t>‹#›</a:t>
            </a:fld>
            <a:endParaRPr lang="en-IN"/>
          </a:p>
        </p:txBody>
      </p:sp>
    </p:spTree>
    <p:extLst>
      <p:ext uri="{BB962C8B-B14F-4D97-AF65-F5344CB8AC3E}">
        <p14:creationId xmlns:p14="http://schemas.microsoft.com/office/powerpoint/2010/main" val="2284648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ABF035-18C0-4FD2-AD02-F3BF6316E921}" type="datetimeFigureOut">
              <a:rPr lang="en-IN" smtClean="0"/>
              <a:t>28-10-2025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17B5F7B-2797-404A-9FEC-097A299DB799}" type="slidenum">
              <a:rPr lang="en-IN" smtClean="0"/>
              <a:t>‹#›</a:t>
            </a:fld>
            <a:endParaRPr lang="en-IN"/>
          </a:p>
        </p:txBody>
      </p:sp>
    </p:spTree>
    <p:extLst>
      <p:ext uri="{BB962C8B-B14F-4D97-AF65-F5344CB8AC3E}">
        <p14:creationId xmlns:p14="http://schemas.microsoft.com/office/powerpoint/2010/main" val="551156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ABF035-18C0-4FD2-AD02-F3BF6316E921}" type="datetimeFigureOut">
              <a:rPr lang="en-IN" smtClean="0"/>
              <a:t>28-10-2025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7B5F7B-2797-404A-9FEC-097A299DB799}" type="slidenum">
              <a:rPr lang="en-IN" smtClean="0"/>
              <a:t>‹#›</a:t>
            </a:fld>
            <a:endParaRPr lang="en-IN"/>
          </a:p>
        </p:txBody>
      </p:sp>
    </p:spTree>
    <p:extLst>
      <p:ext uri="{BB962C8B-B14F-4D97-AF65-F5344CB8AC3E}">
        <p14:creationId xmlns:p14="http://schemas.microsoft.com/office/powerpoint/2010/main" val="1890638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ABF035-18C0-4FD2-AD02-F3BF6316E921}" type="datetimeFigureOut">
              <a:rPr lang="en-IN" smtClean="0"/>
              <a:t>28-10-2025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7B5F7B-2797-404A-9FEC-097A299DB799}" type="slidenum">
              <a:rPr lang="en-IN" smtClean="0"/>
              <a:t>‹#›</a:t>
            </a:fld>
            <a:endParaRPr lang="en-IN"/>
          </a:p>
        </p:txBody>
      </p:sp>
    </p:spTree>
    <p:extLst>
      <p:ext uri="{BB962C8B-B14F-4D97-AF65-F5344CB8AC3E}">
        <p14:creationId xmlns:p14="http://schemas.microsoft.com/office/powerpoint/2010/main" val="441043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ABF035-18C0-4FD2-AD02-F3BF6316E921}" type="datetimeFigureOut">
              <a:rPr lang="en-IN" smtClean="0"/>
              <a:t>28-10-2025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7B5F7B-2797-404A-9FEC-097A299DB799}" type="slidenum">
              <a:rPr lang="en-IN" smtClean="0"/>
              <a:t>‹#›</a:t>
            </a:fld>
            <a:endParaRPr lang="en-IN"/>
          </a:p>
        </p:txBody>
      </p:sp>
    </p:spTree>
    <p:extLst>
      <p:ext uri="{BB962C8B-B14F-4D97-AF65-F5344CB8AC3E}">
        <p14:creationId xmlns:p14="http://schemas.microsoft.com/office/powerpoint/2010/main" val="3140035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ABF035-18C0-4FD2-AD02-F3BF6316E921}" type="datetimeFigureOut">
              <a:rPr lang="en-IN" smtClean="0"/>
              <a:t>28-10-2025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7B5F7B-2797-404A-9FEC-097A299DB799}" type="slidenum">
              <a:rPr lang="en-IN" smtClean="0"/>
              <a:t>‹#›</a:t>
            </a:fld>
            <a:endParaRPr lang="en-IN"/>
          </a:p>
        </p:txBody>
      </p:sp>
    </p:spTree>
    <p:extLst>
      <p:ext uri="{BB962C8B-B14F-4D97-AF65-F5344CB8AC3E}">
        <p14:creationId xmlns:p14="http://schemas.microsoft.com/office/powerpoint/2010/main" val="1708573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72ABF035-18C0-4FD2-AD02-F3BF6316E921}" type="datetimeFigureOut">
              <a:rPr lang="en-IN" smtClean="0"/>
              <a:t>28-10-2025</a:t>
            </a:fld>
            <a:endParaRPr lang="en-IN"/>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IN"/>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F17B5F7B-2797-404A-9FEC-097A299DB799}" type="slidenum">
              <a:rPr lang="en-IN" smtClean="0"/>
              <a:t>‹#›</a:t>
            </a:fld>
            <a:endParaRPr lang="en-IN"/>
          </a:p>
        </p:txBody>
      </p:sp>
    </p:spTree>
    <p:extLst>
      <p:ext uri="{BB962C8B-B14F-4D97-AF65-F5344CB8AC3E}">
        <p14:creationId xmlns:p14="http://schemas.microsoft.com/office/powerpoint/2010/main" val="2728517580"/>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Picture 64">
            <a:extLst>
              <a:ext uri="{FF2B5EF4-FFF2-40B4-BE49-F238E27FC236}">
                <a16:creationId xmlns:a16="http://schemas.microsoft.com/office/drawing/2014/main" id="{14B8B93C-CD0F-42C8-9942-D71B42641F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8288"/>
            <a:ext cx="12192000" cy="6761424"/>
          </a:xfrm>
          <a:prstGeom prst="rect">
            <a:avLst/>
          </a:prstGeom>
        </p:spPr>
      </p:pic>
    </p:spTree>
    <p:extLst>
      <p:ext uri="{BB962C8B-B14F-4D97-AF65-F5344CB8AC3E}">
        <p14:creationId xmlns:p14="http://schemas.microsoft.com/office/powerpoint/2010/main" val="384713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6E0826-7EBB-4A8E-B4FD-34FF08646D7E}"/>
              </a:ext>
            </a:extLst>
          </p:cNvPr>
          <p:cNvSpPr txBox="1"/>
          <p:nvPr/>
        </p:nvSpPr>
        <p:spPr>
          <a:xfrm>
            <a:off x="1100667" y="554335"/>
            <a:ext cx="10151533" cy="4201728"/>
          </a:xfrm>
          <a:prstGeom prst="rect">
            <a:avLst/>
          </a:prstGeom>
          <a:noFill/>
        </p:spPr>
        <p:txBody>
          <a:bodyPr wrap="square">
            <a:spAutoFit/>
          </a:bodyPr>
          <a:lstStyle/>
          <a:p>
            <a:pPr marL="457200" marR="0" indent="-228600" algn="ctr">
              <a:lnSpc>
                <a:spcPct val="107000"/>
              </a:lnSpc>
              <a:spcBef>
                <a:spcPts val="0"/>
              </a:spcBef>
              <a:spcAft>
                <a:spcPts val="800"/>
              </a:spcAft>
            </a:pPr>
            <a:r>
              <a:rPr lang="en-US" sz="2000" b="1" u="heavy" dirty="0">
                <a:solidFill>
                  <a:srgbClr val="FF0000"/>
                </a:solidFill>
                <a:effectLst/>
                <a:uFill>
                  <a:solidFill>
                    <a:srgbClr val="538135"/>
                  </a:solidFill>
                </a:uFill>
                <a:latin typeface="Maiandra GD" panose="020E0502030308020204" pitchFamily="34" charset="0"/>
                <a:ea typeface="Calibri" panose="020F0502020204030204" pitchFamily="34" charset="0"/>
                <a:cs typeface="Mangal" panose="02040503050203030202" pitchFamily="18" charset="0"/>
              </a:rPr>
              <a:t>Challenges in Creating a Zomato Analysis Dashboard in Excel</a:t>
            </a:r>
            <a:endParaRPr lang="en-US" sz="1400" dirty="0">
              <a:effectLst/>
              <a:latin typeface="Calibri" panose="020F0502020204030204" pitchFamily="34" charset="0"/>
              <a:ea typeface="Calibri" panose="020F0502020204030204" pitchFamily="34" charset="0"/>
              <a:cs typeface="Mangal" panose="02040503050203030202" pitchFamily="18" charset="0"/>
            </a:endParaRPr>
          </a:p>
          <a:p>
            <a:pPr marL="0" marR="0">
              <a:lnSpc>
                <a:spcPct val="107000"/>
              </a:lnSpc>
              <a:spcBef>
                <a:spcPts val="0"/>
              </a:spcBef>
              <a:spcAft>
                <a:spcPts val="800"/>
              </a:spcAft>
            </a:pPr>
            <a:r>
              <a:rPr lang="en-US" sz="600" dirty="0">
                <a:effectLst/>
                <a:latin typeface="Maiandra GD" panose="020E0502030308020204" pitchFamily="34" charset="0"/>
                <a:ea typeface="Calibri" panose="020F0502020204030204" pitchFamily="34" charset="0"/>
                <a:cs typeface="Mangal" panose="02040503050203030202" pitchFamily="18" charset="0"/>
              </a:rPr>
              <a:t> </a:t>
            </a:r>
            <a:endParaRPr lang="en-US" sz="12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gn="just">
              <a:lnSpc>
                <a:spcPct val="107000"/>
              </a:lnSpc>
              <a:spcBef>
                <a:spcPts val="0"/>
              </a:spcBef>
              <a:spcAft>
                <a:spcPts val="0"/>
              </a:spcAft>
              <a:buFont typeface="+mj-lt"/>
              <a:buAutoNum type="arabicPeriod"/>
            </a:pPr>
            <a:r>
              <a:rPr lang="en-US" sz="18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Zomato datasets contain thousands of restaurants and reviews, making Excel </a:t>
            </a:r>
            <a:r>
              <a:rPr lang="en-US" sz="1800" dirty="0">
                <a:solidFill>
                  <a:srgbClr val="00B050"/>
                </a:solidFill>
                <a:effectLst/>
                <a:latin typeface="Maiandra GD" panose="020E0502030308020204" pitchFamily="34" charset="0"/>
                <a:ea typeface="Calibri" panose="020F0502020204030204" pitchFamily="34" charset="0"/>
                <a:cs typeface="Mangal" panose="02040503050203030202" pitchFamily="18" charset="0"/>
              </a:rPr>
              <a:t>slow or prone to crashing </a:t>
            </a:r>
            <a:r>
              <a:rPr lang="en-US" sz="18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during calculations or chart updates.</a:t>
            </a:r>
            <a:endParaRPr lang="en-US" sz="1200" dirty="0">
              <a:effectLst/>
              <a:latin typeface="Calibri" panose="020F0502020204030204" pitchFamily="34" charset="0"/>
              <a:ea typeface="Calibri" panose="020F0502020204030204" pitchFamily="34" charset="0"/>
              <a:cs typeface="Mangal" panose="02040503050203030202" pitchFamily="18" charset="0"/>
            </a:endParaRPr>
          </a:p>
          <a:p>
            <a:pPr marL="457200" marR="0" algn="just">
              <a:lnSpc>
                <a:spcPct val="107000"/>
              </a:lnSpc>
              <a:spcBef>
                <a:spcPts val="0"/>
              </a:spcBef>
              <a:spcAft>
                <a:spcPts val="0"/>
              </a:spcAft>
            </a:pPr>
            <a:endParaRPr lang="en-US" sz="12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gn="just">
              <a:lnSpc>
                <a:spcPct val="107000"/>
              </a:lnSpc>
              <a:spcBef>
                <a:spcPts val="0"/>
              </a:spcBef>
              <a:spcAft>
                <a:spcPts val="0"/>
              </a:spcAft>
              <a:buAutoNum type="arabicPeriod" startAt="2"/>
            </a:pPr>
            <a:r>
              <a:rPr lang="en-US" sz="1800" b="1" dirty="0">
                <a:solidFill>
                  <a:srgbClr val="00B050"/>
                </a:solidFill>
                <a:effectLst/>
                <a:latin typeface="Maiandra GD" panose="020E0502030308020204" pitchFamily="34" charset="0"/>
                <a:ea typeface="Calibri" panose="020F0502020204030204" pitchFamily="34" charset="0"/>
                <a:cs typeface="Mangal" panose="02040503050203030202" pitchFamily="18" charset="0"/>
              </a:rPr>
              <a:t>Inconsistent naming</a:t>
            </a:r>
            <a:r>
              <a:rPr lang="en-US" sz="1800" dirty="0">
                <a:solidFill>
                  <a:srgbClr val="00B050"/>
                </a:solidFill>
                <a:effectLst/>
                <a:latin typeface="Maiandra GD" panose="020E0502030308020204" pitchFamily="34" charset="0"/>
                <a:ea typeface="Calibri" panose="020F0502020204030204" pitchFamily="34" charset="0"/>
                <a:cs typeface="Mangal" panose="02040503050203030202" pitchFamily="18" charset="0"/>
              </a:rPr>
              <a:t> </a:t>
            </a:r>
            <a:r>
              <a:rPr lang="en-US" sz="18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(e.g., “Indian,” “North Indian,” “Indian Cuisine”) can make it difficult to </a:t>
            </a:r>
          </a:p>
          <a:p>
            <a:pPr marR="0" lvl="0" algn="just">
              <a:lnSpc>
                <a:spcPct val="107000"/>
              </a:lnSpc>
              <a:spcBef>
                <a:spcPts val="0"/>
              </a:spcBef>
              <a:spcAft>
                <a:spcPts val="0"/>
              </a:spcAft>
            </a:pPr>
            <a:r>
              <a:rPr lang="en-US" sz="18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      group or compare data accurately.</a:t>
            </a:r>
            <a:endParaRPr lang="en-US" sz="1200" dirty="0">
              <a:effectLst/>
              <a:latin typeface="Calibri" panose="020F0502020204030204" pitchFamily="34" charset="0"/>
              <a:ea typeface="Calibri" panose="020F0502020204030204" pitchFamily="34" charset="0"/>
              <a:cs typeface="Mangal" panose="02040503050203030202" pitchFamily="18" charset="0"/>
            </a:endParaRPr>
          </a:p>
          <a:p>
            <a:pPr marL="457200" marR="0" algn="just">
              <a:lnSpc>
                <a:spcPct val="107000"/>
              </a:lnSpc>
              <a:spcBef>
                <a:spcPts val="0"/>
              </a:spcBef>
              <a:spcAft>
                <a:spcPts val="0"/>
              </a:spcAft>
            </a:pPr>
            <a:r>
              <a:rPr lang="en-US" sz="2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&lt; </a:t>
            </a:r>
            <a:endParaRPr lang="en-US" sz="1200" dirty="0">
              <a:effectLst/>
              <a:latin typeface="Calibri" panose="020F0502020204030204" pitchFamily="34" charset="0"/>
              <a:ea typeface="Calibri" panose="020F0502020204030204" pitchFamily="34" charset="0"/>
              <a:cs typeface="Mangal" panose="02040503050203030202" pitchFamily="18" charset="0"/>
            </a:endParaRPr>
          </a:p>
          <a:p>
            <a:pPr marL="457200" marR="0" algn="just">
              <a:lnSpc>
                <a:spcPct val="107000"/>
              </a:lnSpc>
              <a:spcBef>
                <a:spcPts val="0"/>
              </a:spcBef>
              <a:spcAft>
                <a:spcPts val="0"/>
              </a:spcAft>
            </a:pPr>
            <a:r>
              <a:rPr lang="en-US" sz="18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 </a:t>
            </a:r>
            <a:endParaRPr lang="en-US" sz="1200" dirty="0">
              <a:effectLst/>
              <a:latin typeface="Calibri" panose="020F0502020204030204" pitchFamily="34" charset="0"/>
              <a:ea typeface="Calibri" panose="020F0502020204030204" pitchFamily="34" charset="0"/>
              <a:cs typeface="Mangal" panose="02040503050203030202" pitchFamily="18" charset="0"/>
            </a:endParaRPr>
          </a:p>
          <a:p>
            <a:pPr marR="0" lvl="0" algn="just">
              <a:lnSpc>
                <a:spcPct val="107000"/>
              </a:lnSpc>
              <a:spcBef>
                <a:spcPts val="0"/>
              </a:spcBef>
              <a:spcAft>
                <a:spcPts val="0"/>
              </a:spcAft>
            </a:pPr>
            <a:r>
              <a:rPr lang="en-US" sz="18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3. Choosing the </a:t>
            </a:r>
            <a:r>
              <a:rPr lang="en-US" sz="1800" b="1" dirty="0">
                <a:solidFill>
                  <a:srgbClr val="00B050"/>
                </a:solidFill>
                <a:effectLst/>
                <a:latin typeface="Maiandra GD" panose="020E0502030308020204" pitchFamily="34" charset="0"/>
                <a:ea typeface="Calibri" panose="020F0502020204030204" pitchFamily="34" charset="0"/>
                <a:cs typeface="Mangal" panose="02040503050203030202" pitchFamily="18" charset="0"/>
              </a:rPr>
              <a:t>right visuals</a:t>
            </a:r>
            <a:r>
              <a:rPr lang="en-US" sz="1800" dirty="0">
                <a:solidFill>
                  <a:srgbClr val="00B050"/>
                </a:solidFill>
                <a:effectLst/>
                <a:latin typeface="Maiandra GD" panose="020E0502030308020204" pitchFamily="34" charset="0"/>
                <a:ea typeface="Calibri" panose="020F0502020204030204" pitchFamily="34" charset="0"/>
                <a:cs typeface="Mangal" panose="02040503050203030202" pitchFamily="18" charset="0"/>
              </a:rPr>
              <a:t> </a:t>
            </a:r>
            <a:r>
              <a:rPr lang="en-US" sz="18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to represent ratings, price ranges, and popular cuisines can be   </a:t>
            </a:r>
          </a:p>
          <a:p>
            <a:pPr marR="0" lvl="0" algn="just">
              <a:lnSpc>
                <a:spcPct val="107000"/>
              </a:lnSpc>
              <a:spcBef>
                <a:spcPts val="0"/>
              </a:spcBef>
              <a:spcAft>
                <a:spcPts val="0"/>
              </a:spcAft>
            </a:pPr>
            <a:r>
              <a:rPr lang="en-US" b="1" dirty="0">
                <a:solidFill>
                  <a:srgbClr val="0070C0"/>
                </a:solidFill>
                <a:latin typeface="Maiandra GD" panose="020E0502030308020204" pitchFamily="34" charset="0"/>
                <a:ea typeface="Calibri" panose="020F0502020204030204" pitchFamily="34" charset="0"/>
                <a:cs typeface="Mangal" panose="02040503050203030202" pitchFamily="18" charset="0"/>
              </a:rPr>
              <a:t>     </a:t>
            </a:r>
            <a:r>
              <a:rPr lang="en-US" sz="1800" b="1" dirty="0">
                <a:solidFill>
                  <a:srgbClr val="00B050"/>
                </a:solidFill>
                <a:effectLst/>
                <a:latin typeface="Maiandra GD" panose="020E0502030308020204" pitchFamily="34" charset="0"/>
                <a:ea typeface="Calibri" panose="020F0502020204030204" pitchFamily="34" charset="0"/>
                <a:cs typeface="Mangal" panose="02040503050203030202" pitchFamily="18" charset="0"/>
              </a:rPr>
              <a:t>challenging</a:t>
            </a:r>
            <a:r>
              <a:rPr lang="en-US" sz="18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 to make the dashboard insightful and easy to interpret.</a:t>
            </a:r>
            <a:endParaRPr lang="en-US" sz="1200" dirty="0">
              <a:effectLst/>
              <a:latin typeface="Calibri" panose="020F0502020204030204" pitchFamily="34" charset="0"/>
              <a:ea typeface="Calibri" panose="020F0502020204030204" pitchFamily="34" charset="0"/>
              <a:cs typeface="Mangal" panose="02040503050203030202" pitchFamily="18" charset="0"/>
            </a:endParaRPr>
          </a:p>
          <a:p>
            <a:pPr marL="457200" marR="0" algn="just">
              <a:lnSpc>
                <a:spcPct val="107000"/>
              </a:lnSpc>
              <a:spcBef>
                <a:spcPts val="0"/>
              </a:spcBef>
              <a:spcAft>
                <a:spcPts val="0"/>
              </a:spcAft>
            </a:pPr>
            <a:r>
              <a:rPr lang="en-US" sz="18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 </a:t>
            </a:r>
            <a:endParaRPr lang="en-US" sz="1200" dirty="0">
              <a:effectLst/>
              <a:latin typeface="Calibri" panose="020F0502020204030204" pitchFamily="34" charset="0"/>
              <a:ea typeface="Calibri" panose="020F0502020204030204" pitchFamily="34" charset="0"/>
              <a:cs typeface="Mangal" panose="02040503050203030202" pitchFamily="18" charset="0"/>
            </a:endParaRPr>
          </a:p>
          <a:p>
            <a:pPr marR="0" lvl="0" algn="just">
              <a:lnSpc>
                <a:spcPct val="107000"/>
              </a:lnSpc>
              <a:spcBef>
                <a:spcPts val="0"/>
              </a:spcBef>
              <a:spcAft>
                <a:spcPts val="0"/>
              </a:spcAft>
            </a:pPr>
            <a:r>
              <a:rPr lang="en-US" sz="18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4. Adding interactive features like slicers for city, cuisine, or rating can be </a:t>
            </a:r>
            <a:r>
              <a:rPr lang="en-US" sz="1800" b="1" dirty="0">
                <a:solidFill>
                  <a:srgbClr val="00B050"/>
                </a:solidFill>
                <a:effectLst/>
                <a:latin typeface="Maiandra GD" panose="020E0502030308020204" pitchFamily="34" charset="0"/>
                <a:ea typeface="Calibri" panose="020F0502020204030204" pitchFamily="34" charset="0"/>
                <a:cs typeface="Mangal" panose="02040503050203030202" pitchFamily="18" charset="0"/>
              </a:rPr>
              <a:t>complex to set up and </a:t>
            </a:r>
          </a:p>
          <a:p>
            <a:pPr marR="0" lvl="0" algn="just">
              <a:lnSpc>
                <a:spcPct val="107000"/>
              </a:lnSpc>
              <a:spcBef>
                <a:spcPts val="0"/>
              </a:spcBef>
              <a:spcAft>
                <a:spcPts val="0"/>
              </a:spcAft>
            </a:pPr>
            <a:r>
              <a:rPr lang="en-US" b="1" dirty="0">
                <a:solidFill>
                  <a:srgbClr val="00B050"/>
                </a:solidFill>
                <a:latin typeface="Maiandra GD" panose="020E0502030308020204" pitchFamily="34" charset="0"/>
                <a:ea typeface="Calibri" panose="020F0502020204030204" pitchFamily="34" charset="0"/>
                <a:cs typeface="Mangal" panose="02040503050203030202" pitchFamily="18" charset="0"/>
              </a:rPr>
              <a:t>     </a:t>
            </a:r>
            <a:r>
              <a:rPr lang="en-US" sz="1800" b="1" dirty="0">
                <a:solidFill>
                  <a:srgbClr val="00B050"/>
                </a:solidFill>
                <a:effectLst/>
                <a:latin typeface="Maiandra GD" panose="020E0502030308020204" pitchFamily="34" charset="0"/>
                <a:ea typeface="Calibri" panose="020F0502020204030204" pitchFamily="34" charset="0"/>
                <a:cs typeface="Mangal" panose="02040503050203030202" pitchFamily="18" charset="0"/>
              </a:rPr>
              <a:t>maintain</a:t>
            </a:r>
            <a:r>
              <a:rPr lang="en-US" sz="18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 especially with changing data.</a:t>
            </a:r>
            <a:endParaRPr lang="en-US" sz="1200" dirty="0">
              <a:effectLst/>
              <a:latin typeface="Calibri" panose="020F0502020204030204" pitchFamily="34" charset="0"/>
              <a:ea typeface="Calibri" panose="020F0502020204030204" pitchFamily="34" charset="0"/>
              <a:cs typeface="Mangal" panose="02040503050203030202" pitchFamily="18" charset="0"/>
            </a:endParaRPr>
          </a:p>
          <a:p>
            <a:pPr marL="457200" marR="0" algn="just">
              <a:lnSpc>
                <a:spcPct val="107000"/>
              </a:lnSpc>
              <a:spcBef>
                <a:spcPts val="0"/>
              </a:spcBef>
              <a:spcAft>
                <a:spcPts val="800"/>
              </a:spcAft>
            </a:pPr>
            <a:r>
              <a:rPr lang="en-US" sz="1800" dirty="0">
                <a:effectLst/>
                <a:latin typeface="Maiandra GD" panose="020E0502030308020204" pitchFamily="34" charset="0"/>
                <a:ea typeface="Calibri" panose="020F0502020204030204" pitchFamily="34" charset="0"/>
                <a:cs typeface="Mangal" panose="02040503050203030202" pitchFamily="18" charset="0"/>
              </a:rPr>
              <a:t> </a:t>
            </a:r>
            <a:endParaRPr lang="en-US" sz="12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3186131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74DB29-794C-452D-B18C-3B8EF7E9B6E4}"/>
              </a:ext>
            </a:extLst>
          </p:cNvPr>
          <p:cNvSpPr txBox="1"/>
          <p:nvPr/>
        </p:nvSpPr>
        <p:spPr>
          <a:xfrm>
            <a:off x="1159932" y="821267"/>
            <a:ext cx="10253135" cy="4724178"/>
          </a:xfrm>
          <a:prstGeom prst="rect">
            <a:avLst/>
          </a:prstGeom>
          <a:noFill/>
        </p:spPr>
        <p:txBody>
          <a:bodyPr wrap="square">
            <a:spAutoFit/>
          </a:bodyPr>
          <a:lstStyle/>
          <a:p>
            <a:pPr marL="457200" marR="0" algn="ctr">
              <a:lnSpc>
                <a:spcPct val="107000"/>
              </a:lnSpc>
              <a:spcBef>
                <a:spcPts val="0"/>
              </a:spcBef>
              <a:spcAft>
                <a:spcPts val="0"/>
              </a:spcAft>
            </a:pPr>
            <a:r>
              <a:rPr lang="en-US" sz="1800" b="1" u="heavy" dirty="0">
                <a:solidFill>
                  <a:srgbClr val="FF0000"/>
                </a:solidFill>
                <a:effectLst/>
                <a:uFill>
                  <a:solidFill>
                    <a:srgbClr val="538135"/>
                  </a:solidFill>
                </a:uFill>
                <a:latin typeface="Maiandra GD" panose="020E0502030308020204" pitchFamily="34" charset="0"/>
                <a:ea typeface="Calibri" panose="020F0502020204030204" pitchFamily="34" charset="0"/>
                <a:cs typeface="Mangal" panose="02040503050203030202" pitchFamily="18" charset="0"/>
              </a:rPr>
              <a:t>“Insights and Recommendations for Zomato Based on Data Analysis”</a:t>
            </a:r>
            <a:endParaRPr lang="en-US" sz="1400" dirty="0">
              <a:effectLst/>
              <a:latin typeface="Calibri" panose="020F0502020204030204" pitchFamily="34" charset="0"/>
              <a:ea typeface="Calibri" panose="020F0502020204030204" pitchFamily="34" charset="0"/>
              <a:cs typeface="Mangal" panose="02040503050203030202" pitchFamily="18" charset="0"/>
            </a:endParaRPr>
          </a:p>
          <a:p>
            <a:pPr marL="457200" marR="0" algn="ctr">
              <a:lnSpc>
                <a:spcPct val="107000"/>
              </a:lnSpc>
              <a:spcBef>
                <a:spcPts val="0"/>
              </a:spcBef>
              <a:spcAft>
                <a:spcPts val="0"/>
              </a:spcAft>
            </a:pPr>
            <a:endParaRPr lang="en-US" sz="1800" b="1" u="none" strike="noStrike" dirty="0">
              <a:solidFill>
                <a:srgbClr val="FF0000"/>
              </a:solidFill>
              <a:effectLst/>
              <a:uFill>
                <a:solidFill>
                  <a:srgbClr val="538135"/>
                </a:solidFill>
              </a:uFill>
              <a:latin typeface="Maiandra GD" panose="020E0502030308020204" pitchFamily="34" charset="0"/>
              <a:ea typeface="Calibri" panose="020F0502020204030204" pitchFamily="34" charset="0"/>
              <a:cs typeface="Mangal" panose="02040503050203030202" pitchFamily="18" charset="0"/>
            </a:endParaRPr>
          </a:p>
          <a:p>
            <a:pPr marL="457200" marR="0" algn="ctr">
              <a:lnSpc>
                <a:spcPct val="107000"/>
              </a:lnSpc>
              <a:spcBef>
                <a:spcPts val="0"/>
              </a:spcBef>
              <a:spcAft>
                <a:spcPts val="0"/>
              </a:spcAft>
            </a:pPr>
            <a:endParaRPr lang="en-US" b="1" dirty="0">
              <a:solidFill>
                <a:srgbClr val="FF0000"/>
              </a:solidFill>
              <a:uFill>
                <a:solidFill>
                  <a:srgbClr val="538135"/>
                </a:solidFill>
              </a:uFill>
              <a:latin typeface="Maiandra GD" panose="020E0502030308020204" pitchFamily="34" charset="0"/>
              <a:ea typeface="Calibri" panose="020F0502020204030204" pitchFamily="34" charset="0"/>
              <a:cs typeface="Mangal" panose="02040503050203030202" pitchFamily="18" charset="0"/>
            </a:endParaRPr>
          </a:p>
          <a:p>
            <a:pPr marL="457200" marR="0" algn="ctr">
              <a:lnSpc>
                <a:spcPct val="107000"/>
              </a:lnSpc>
              <a:spcBef>
                <a:spcPts val="0"/>
              </a:spcBef>
              <a:spcAft>
                <a:spcPts val="0"/>
              </a:spcAft>
            </a:pPr>
            <a:r>
              <a:rPr lang="en-US" sz="1800" b="1" u="none" strike="noStrike" dirty="0">
                <a:solidFill>
                  <a:srgbClr val="FF0000"/>
                </a:solidFill>
                <a:effectLst/>
                <a:uFill>
                  <a:solidFill>
                    <a:srgbClr val="538135"/>
                  </a:solidFill>
                </a:uFill>
                <a:latin typeface="Maiandra GD" panose="020E0502030308020204" pitchFamily="34" charset="0"/>
                <a:ea typeface="Calibri" panose="020F0502020204030204" pitchFamily="34" charset="0"/>
                <a:cs typeface="Mangal" panose="02040503050203030202" pitchFamily="18" charset="0"/>
              </a:rPr>
              <a:t> </a:t>
            </a:r>
            <a:endParaRPr lang="en-US" sz="1400" dirty="0">
              <a:effectLst/>
              <a:latin typeface="Calibri" panose="020F0502020204030204" pitchFamily="34" charset="0"/>
              <a:ea typeface="Calibri" panose="020F0502020204030204" pitchFamily="34" charset="0"/>
              <a:cs typeface="Mangal" panose="02040503050203030202" pitchFamily="18" charset="0"/>
            </a:endParaRPr>
          </a:p>
          <a:p>
            <a:pPr marL="457200" marR="0" algn="just">
              <a:lnSpc>
                <a:spcPct val="107000"/>
              </a:lnSpc>
              <a:spcBef>
                <a:spcPts val="0"/>
              </a:spcBef>
              <a:spcAft>
                <a:spcPts val="0"/>
              </a:spcAft>
            </a:pPr>
            <a:endParaRPr lang="en-US" sz="1400" dirty="0">
              <a:solidFill>
                <a:srgbClr val="0070C0"/>
              </a:solidFill>
              <a:effectLst/>
              <a:latin typeface="Maiandra GD" panose="020E0502030308020204" pitchFamily="34" charset="0"/>
              <a:ea typeface="Calibri" panose="020F0502020204030204" pitchFamily="34" charset="0"/>
              <a:cs typeface="Mangal" panose="02040503050203030202" pitchFamily="18" charset="0"/>
            </a:endParaRPr>
          </a:p>
          <a:p>
            <a:pPr marL="457200" marR="0" algn="just">
              <a:lnSpc>
                <a:spcPct val="107000"/>
              </a:lnSpc>
              <a:spcBef>
                <a:spcPts val="0"/>
              </a:spcBef>
              <a:spcAft>
                <a:spcPts val="0"/>
              </a:spcAft>
            </a:pPr>
            <a:endParaRPr lang="en-US" sz="1400" dirty="0">
              <a:solidFill>
                <a:srgbClr val="0070C0"/>
              </a:solidFill>
              <a:latin typeface="Maiandra GD" panose="020E0502030308020204" pitchFamily="34" charset="0"/>
              <a:ea typeface="Calibri" panose="020F0502020204030204" pitchFamily="34" charset="0"/>
              <a:cs typeface="Mangal" panose="02040503050203030202" pitchFamily="18" charset="0"/>
            </a:endParaRPr>
          </a:p>
          <a:p>
            <a:pPr marL="457200" marR="0" algn="just">
              <a:lnSpc>
                <a:spcPct val="107000"/>
              </a:lnSpc>
              <a:spcBef>
                <a:spcPts val="0"/>
              </a:spcBef>
              <a:spcAft>
                <a:spcPts val="0"/>
              </a:spcAft>
            </a:pPr>
            <a:r>
              <a:rPr lang="en-US" sz="14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After analyzing Zomato’s data in Excel, it was found that there are a few areas where the company can </a:t>
            </a:r>
            <a:r>
              <a:rPr lang="en-US" sz="1400" b="1" dirty="0">
                <a:solidFill>
                  <a:srgbClr val="7030A0"/>
                </a:solidFill>
                <a:effectLst/>
                <a:latin typeface="Maiandra GD" panose="020E0502030308020204" pitchFamily="34" charset="0"/>
                <a:ea typeface="Calibri" panose="020F0502020204030204" pitchFamily="34" charset="0"/>
                <a:cs typeface="Mangal" panose="02040503050203030202" pitchFamily="18" charset="0"/>
              </a:rPr>
              <a:t>improve</a:t>
            </a:r>
            <a:r>
              <a:rPr lang="en-US" sz="14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 </a:t>
            </a:r>
            <a:endParaRPr lang="en-US" sz="1400" dirty="0">
              <a:effectLst/>
              <a:latin typeface="Calibri" panose="020F0502020204030204" pitchFamily="34" charset="0"/>
              <a:ea typeface="Calibri" panose="020F0502020204030204" pitchFamily="34" charset="0"/>
              <a:cs typeface="Mangal" panose="02040503050203030202" pitchFamily="18" charset="0"/>
            </a:endParaRPr>
          </a:p>
          <a:p>
            <a:pPr marL="457200" marR="0" algn="just">
              <a:lnSpc>
                <a:spcPct val="107000"/>
              </a:lnSpc>
              <a:spcBef>
                <a:spcPts val="0"/>
              </a:spcBef>
              <a:spcAft>
                <a:spcPts val="0"/>
              </a:spcAft>
            </a:pPr>
            <a:r>
              <a:rPr lang="en-US" sz="14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 </a:t>
            </a:r>
            <a:endParaRPr lang="en-US" sz="1400" dirty="0">
              <a:solidFill>
                <a:srgbClr val="0070C0"/>
              </a:solidFill>
              <a:latin typeface="Maiandra GD" panose="020E0502030308020204" pitchFamily="34" charset="0"/>
              <a:ea typeface="Calibri" panose="020F0502020204030204" pitchFamily="34" charset="0"/>
              <a:cs typeface="Mangal" panose="02040503050203030202" pitchFamily="18" charset="0"/>
            </a:endParaRPr>
          </a:p>
          <a:p>
            <a:pPr marL="457200" marR="0" algn="just">
              <a:lnSpc>
                <a:spcPct val="107000"/>
              </a:lnSpc>
              <a:spcBef>
                <a:spcPts val="0"/>
              </a:spcBef>
              <a:spcAft>
                <a:spcPts val="0"/>
              </a:spcAft>
            </a:pPr>
            <a:r>
              <a:rPr lang="en-US" sz="14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The </a:t>
            </a:r>
            <a:r>
              <a:rPr lang="en-US" sz="1400" b="1" dirty="0">
                <a:solidFill>
                  <a:srgbClr val="00B050"/>
                </a:solidFill>
                <a:effectLst/>
                <a:latin typeface="Maiandra GD" panose="020E0502030308020204" pitchFamily="34" charset="0"/>
                <a:ea typeface="Calibri" panose="020F0502020204030204" pitchFamily="34" charset="0"/>
                <a:cs typeface="Mangal" panose="02040503050203030202" pitchFamily="18" charset="0"/>
              </a:rPr>
              <a:t>rating system</a:t>
            </a:r>
            <a:r>
              <a:rPr lang="en-US" sz="1400" dirty="0">
                <a:solidFill>
                  <a:srgbClr val="00B050"/>
                </a:solidFill>
                <a:effectLst/>
                <a:latin typeface="Maiandra GD" panose="020E0502030308020204" pitchFamily="34" charset="0"/>
                <a:ea typeface="Calibri" panose="020F0502020204030204" pitchFamily="34" charset="0"/>
                <a:cs typeface="Mangal" panose="02040503050203030202" pitchFamily="18" charset="0"/>
              </a:rPr>
              <a:t> </a:t>
            </a:r>
            <a:r>
              <a:rPr lang="en-US" sz="14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could be made more accurate and transparent to better reflect customer experiences. </a:t>
            </a:r>
            <a:endParaRPr lang="en-US" sz="1400" dirty="0">
              <a:effectLst/>
              <a:latin typeface="Calibri" panose="020F0502020204030204" pitchFamily="34" charset="0"/>
              <a:ea typeface="Calibri" panose="020F0502020204030204" pitchFamily="34" charset="0"/>
              <a:cs typeface="Mangal" panose="02040503050203030202" pitchFamily="18" charset="0"/>
            </a:endParaRPr>
          </a:p>
          <a:p>
            <a:pPr marL="457200" marR="0" algn="just">
              <a:lnSpc>
                <a:spcPct val="107000"/>
              </a:lnSpc>
              <a:spcBef>
                <a:spcPts val="0"/>
              </a:spcBef>
              <a:spcAft>
                <a:spcPts val="0"/>
              </a:spcAft>
            </a:pPr>
            <a:r>
              <a:rPr lang="en-US" sz="14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 </a:t>
            </a:r>
            <a:endParaRPr lang="en-US" sz="1400" dirty="0">
              <a:effectLst/>
              <a:latin typeface="Calibri" panose="020F0502020204030204" pitchFamily="34" charset="0"/>
              <a:ea typeface="Calibri" panose="020F0502020204030204" pitchFamily="34" charset="0"/>
              <a:cs typeface="Mangal" panose="02040503050203030202" pitchFamily="18" charset="0"/>
            </a:endParaRPr>
          </a:p>
          <a:p>
            <a:pPr marL="457200" marR="0" algn="just">
              <a:lnSpc>
                <a:spcPct val="107000"/>
              </a:lnSpc>
              <a:spcBef>
                <a:spcPts val="0"/>
              </a:spcBef>
              <a:spcAft>
                <a:spcPts val="0"/>
              </a:spcAft>
            </a:pPr>
            <a:r>
              <a:rPr lang="en-US" sz="14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Restaurant categories and cuisine types should be </a:t>
            </a:r>
            <a:r>
              <a:rPr lang="en-US" sz="1400" b="1" dirty="0">
                <a:solidFill>
                  <a:srgbClr val="00B050"/>
                </a:solidFill>
                <a:effectLst/>
                <a:latin typeface="Maiandra GD" panose="020E0502030308020204" pitchFamily="34" charset="0"/>
                <a:ea typeface="Calibri" panose="020F0502020204030204" pitchFamily="34" charset="0"/>
                <a:cs typeface="Mangal" panose="02040503050203030202" pitchFamily="18" charset="0"/>
              </a:rPr>
              <a:t>standardized</a:t>
            </a:r>
            <a:r>
              <a:rPr lang="en-US" sz="1400" dirty="0">
                <a:solidFill>
                  <a:srgbClr val="00B050"/>
                </a:solidFill>
                <a:effectLst/>
                <a:latin typeface="Maiandra GD" panose="020E0502030308020204" pitchFamily="34" charset="0"/>
                <a:ea typeface="Calibri" panose="020F0502020204030204" pitchFamily="34" charset="0"/>
                <a:cs typeface="Mangal" panose="02040503050203030202" pitchFamily="18" charset="0"/>
              </a:rPr>
              <a:t> </a:t>
            </a:r>
            <a:r>
              <a:rPr lang="en-US" sz="14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to make searching easier for users. </a:t>
            </a:r>
            <a:endParaRPr lang="en-US" sz="1400" dirty="0">
              <a:effectLst/>
              <a:latin typeface="Calibri" panose="020F0502020204030204" pitchFamily="34" charset="0"/>
              <a:ea typeface="Calibri" panose="020F0502020204030204" pitchFamily="34" charset="0"/>
              <a:cs typeface="Mangal" panose="02040503050203030202" pitchFamily="18" charset="0"/>
            </a:endParaRPr>
          </a:p>
          <a:p>
            <a:pPr marL="457200" marR="0" algn="just">
              <a:lnSpc>
                <a:spcPct val="107000"/>
              </a:lnSpc>
              <a:spcBef>
                <a:spcPts val="0"/>
              </a:spcBef>
              <a:spcAft>
                <a:spcPts val="0"/>
              </a:spcAft>
            </a:pPr>
            <a:r>
              <a:rPr lang="en-US" sz="14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 </a:t>
            </a:r>
            <a:endParaRPr lang="en-US" sz="1400" dirty="0">
              <a:effectLst/>
              <a:latin typeface="Calibri" panose="020F0502020204030204" pitchFamily="34" charset="0"/>
              <a:ea typeface="Calibri" panose="020F0502020204030204" pitchFamily="34" charset="0"/>
              <a:cs typeface="Mangal" panose="02040503050203030202" pitchFamily="18" charset="0"/>
            </a:endParaRPr>
          </a:p>
          <a:p>
            <a:pPr marL="457200" marR="0" algn="just">
              <a:lnSpc>
                <a:spcPct val="107000"/>
              </a:lnSpc>
              <a:spcBef>
                <a:spcPts val="0"/>
              </a:spcBef>
              <a:spcAft>
                <a:spcPts val="0"/>
              </a:spcAft>
            </a:pPr>
            <a:r>
              <a:rPr lang="en-US" sz="1400" b="1" dirty="0">
                <a:solidFill>
                  <a:srgbClr val="00B050"/>
                </a:solidFill>
                <a:effectLst/>
                <a:latin typeface="Maiandra GD" panose="020E0502030308020204" pitchFamily="34" charset="0"/>
                <a:ea typeface="Calibri" panose="020F0502020204030204" pitchFamily="34" charset="0"/>
                <a:cs typeface="Mangal" panose="02040503050203030202" pitchFamily="18" charset="0"/>
              </a:rPr>
              <a:t>Delivery time and service quality</a:t>
            </a:r>
            <a:r>
              <a:rPr lang="en-US" sz="1400" dirty="0">
                <a:solidFill>
                  <a:srgbClr val="00B050"/>
                </a:solidFill>
                <a:effectLst/>
                <a:latin typeface="Maiandra GD" panose="020E0502030308020204" pitchFamily="34" charset="0"/>
                <a:ea typeface="Calibri" panose="020F0502020204030204" pitchFamily="34" charset="0"/>
                <a:cs typeface="Mangal" panose="02040503050203030202" pitchFamily="18" charset="0"/>
              </a:rPr>
              <a:t> </a:t>
            </a:r>
            <a:r>
              <a:rPr lang="en-US" sz="14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have a strong impact on customer satisfaction, so improving these areas can help increase positive reviews.</a:t>
            </a:r>
            <a:endParaRPr lang="en-US" sz="1400" dirty="0">
              <a:effectLst/>
              <a:latin typeface="Calibri" panose="020F0502020204030204" pitchFamily="34" charset="0"/>
              <a:ea typeface="Calibri" panose="020F0502020204030204" pitchFamily="34" charset="0"/>
              <a:cs typeface="Mangal" panose="02040503050203030202" pitchFamily="18" charset="0"/>
            </a:endParaRPr>
          </a:p>
          <a:p>
            <a:pPr marL="457200" marR="0" algn="just">
              <a:lnSpc>
                <a:spcPct val="107000"/>
              </a:lnSpc>
              <a:spcBef>
                <a:spcPts val="0"/>
              </a:spcBef>
              <a:spcAft>
                <a:spcPts val="0"/>
              </a:spcAft>
            </a:pPr>
            <a:r>
              <a:rPr lang="en-US" sz="14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 </a:t>
            </a:r>
            <a:endParaRPr lang="en-US" sz="1400" dirty="0">
              <a:effectLst/>
              <a:latin typeface="Calibri" panose="020F0502020204030204" pitchFamily="34" charset="0"/>
              <a:ea typeface="Calibri" panose="020F0502020204030204" pitchFamily="34" charset="0"/>
              <a:cs typeface="Mangal" panose="02040503050203030202" pitchFamily="18" charset="0"/>
            </a:endParaRPr>
          </a:p>
          <a:p>
            <a:pPr marL="457200" marR="0" algn="just">
              <a:lnSpc>
                <a:spcPct val="107000"/>
              </a:lnSpc>
              <a:spcBef>
                <a:spcPts val="0"/>
              </a:spcBef>
              <a:spcAft>
                <a:spcPts val="0"/>
              </a:spcAft>
            </a:pPr>
            <a:r>
              <a:rPr lang="en-US" sz="14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Some restaurant details, such as </a:t>
            </a:r>
            <a:r>
              <a:rPr lang="en-US" sz="1400" b="1" dirty="0">
                <a:solidFill>
                  <a:srgbClr val="00B050"/>
                </a:solidFill>
                <a:effectLst/>
                <a:latin typeface="Maiandra GD" panose="020E0502030308020204" pitchFamily="34" charset="0"/>
                <a:ea typeface="Calibri" panose="020F0502020204030204" pitchFamily="34" charset="0"/>
                <a:cs typeface="Mangal" panose="02040503050203030202" pitchFamily="18" charset="0"/>
              </a:rPr>
              <a:t>prices and availability</a:t>
            </a:r>
            <a:r>
              <a:rPr lang="en-US" sz="14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 also need regular updates to maintain accuracy.</a:t>
            </a:r>
            <a:endParaRPr lang="en-US" sz="1400" dirty="0">
              <a:effectLst/>
              <a:latin typeface="Calibri" panose="020F0502020204030204" pitchFamily="34" charset="0"/>
              <a:ea typeface="Calibri" panose="020F0502020204030204" pitchFamily="34" charset="0"/>
              <a:cs typeface="Mangal" panose="02040503050203030202" pitchFamily="18" charset="0"/>
            </a:endParaRPr>
          </a:p>
          <a:p>
            <a:pPr marL="457200" marR="0" algn="just">
              <a:lnSpc>
                <a:spcPct val="107000"/>
              </a:lnSpc>
              <a:spcBef>
                <a:spcPts val="0"/>
              </a:spcBef>
              <a:spcAft>
                <a:spcPts val="0"/>
              </a:spcAft>
            </a:pPr>
            <a:r>
              <a:rPr lang="en-US" sz="14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 </a:t>
            </a:r>
            <a:endParaRPr lang="en-US" sz="1400" dirty="0">
              <a:effectLst/>
              <a:latin typeface="Calibri" panose="020F0502020204030204" pitchFamily="34" charset="0"/>
              <a:ea typeface="Calibri" panose="020F0502020204030204" pitchFamily="34" charset="0"/>
              <a:cs typeface="Mangal" panose="02040503050203030202" pitchFamily="18" charset="0"/>
            </a:endParaRPr>
          </a:p>
          <a:p>
            <a:pPr marL="457200" marR="0" algn="just">
              <a:lnSpc>
                <a:spcPct val="107000"/>
              </a:lnSpc>
              <a:spcBef>
                <a:spcPts val="0"/>
              </a:spcBef>
              <a:spcAft>
                <a:spcPts val="800"/>
              </a:spcAft>
            </a:pPr>
            <a:r>
              <a:rPr lang="en-US" sz="14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Overall, focusing on data consistency, faster service, and reliable information can help Zomato enhance user </a:t>
            </a:r>
            <a:r>
              <a:rPr lang="en-US" sz="1400" b="1" dirty="0">
                <a:solidFill>
                  <a:srgbClr val="00B050"/>
                </a:solidFill>
                <a:effectLst/>
                <a:latin typeface="Maiandra GD" panose="020E0502030308020204" pitchFamily="34" charset="0"/>
                <a:ea typeface="Calibri" panose="020F0502020204030204" pitchFamily="34" charset="0"/>
                <a:cs typeface="Mangal" panose="02040503050203030202" pitchFamily="18" charset="0"/>
              </a:rPr>
              <a:t>trust and satisfaction</a:t>
            </a:r>
            <a:r>
              <a:rPr lang="en-US" sz="1400" dirty="0">
                <a:solidFill>
                  <a:srgbClr val="0070C0"/>
                </a:solidFill>
                <a:effectLst/>
                <a:latin typeface="Maiandra GD" panose="020E0502030308020204" pitchFamily="34" charset="0"/>
                <a:ea typeface="Calibri" panose="020F0502020204030204" pitchFamily="34" charset="0"/>
                <a:cs typeface="Mangal" panose="02040503050203030202" pitchFamily="18" charset="0"/>
              </a:rPr>
              <a:t>.</a:t>
            </a:r>
            <a:endParaRPr lang="en-US" sz="1400" dirty="0">
              <a:effectLst/>
              <a:latin typeface="Calibri" panose="020F0502020204030204" pitchFamily="34" charset="0"/>
              <a:ea typeface="Calibri" panose="020F0502020204030204" pitchFamily="34" charset="0"/>
              <a:cs typeface="Mangal" panose="02040503050203030202" pitchFamily="18" charset="0"/>
            </a:endParaRPr>
          </a:p>
        </p:txBody>
      </p:sp>
      <p:pic>
        <p:nvPicPr>
          <p:cNvPr id="5" name="Picture 4">
            <a:extLst>
              <a:ext uri="{FF2B5EF4-FFF2-40B4-BE49-F238E27FC236}">
                <a16:creationId xmlns:a16="http://schemas.microsoft.com/office/drawing/2014/main" id="{0CFFB533-CAE3-4137-B9F8-BF1638155B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5984" y="1181099"/>
            <a:ext cx="2139348" cy="1198034"/>
          </a:xfrm>
          <a:prstGeom prst="rect">
            <a:avLst/>
          </a:prstGeom>
        </p:spPr>
      </p:pic>
    </p:spTree>
    <p:extLst>
      <p:ext uri="{BB962C8B-B14F-4D97-AF65-F5344CB8AC3E}">
        <p14:creationId xmlns:p14="http://schemas.microsoft.com/office/powerpoint/2010/main" val="2599789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CE77B3D7-1AC1-07CC-E372-2E3BC398A0BC}"/>
              </a:ext>
            </a:extLst>
          </p:cNvPr>
          <p:cNvSpPr txBox="1">
            <a:spLocks/>
          </p:cNvSpPr>
          <p:nvPr/>
        </p:nvSpPr>
        <p:spPr>
          <a:xfrm>
            <a:off x="0" y="0"/>
            <a:ext cx="12192000" cy="1010916"/>
          </a:xfrm>
          <a:prstGeom prst="rect">
            <a:avLst/>
          </a:prstGeom>
          <a:solidFill>
            <a:srgbClr val="C00000"/>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a:solidFill>
                  <a:schemeClr val="bg1"/>
                </a:solidFill>
                <a:latin typeface="Arial Black" panose="020B0A04020102020204" pitchFamily="34" charset="0"/>
              </a:rPr>
              <a:t>POWER BI DASHBOARD</a:t>
            </a:r>
            <a:endParaRPr lang="en-IN" b="1" dirty="0">
              <a:solidFill>
                <a:schemeClr val="bg1"/>
              </a:solidFill>
              <a:latin typeface="Arial Black" panose="020B0A04020102020204" pitchFamily="34" charset="0"/>
            </a:endParaRPr>
          </a:p>
        </p:txBody>
      </p:sp>
      <p:pic>
        <p:nvPicPr>
          <p:cNvPr id="3" name="Picture 2">
            <a:extLst>
              <a:ext uri="{FF2B5EF4-FFF2-40B4-BE49-F238E27FC236}">
                <a16:creationId xmlns:a16="http://schemas.microsoft.com/office/drawing/2014/main" id="{17377574-A545-019B-E8B3-A5998268B8F8}"/>
              </a:ext>
            </a:extLst>
          </p:cNvPr>
          <p:cNvPicPr>
            <a:picLocks noChangeAspect="1"/>
          </p:cNvPicPr>
          <p:nvPr/>
        </p:nvPicPr>
        <p:blipFill>
          <a:blip r:embed="rId2"/>
          <a:stretch>
            <a:fillRect/>
          </a:stretch>
        </p:blipFill>
        <p:spPr>
          <a:xfrm>
            <a:off x="65315" y="1077922"/>
            <a:ext cx="11998348" cy="566190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5958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77E06-99CB-ABDA-8450-0C041876E88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2A0C0E4-EBE7-A392-58E0-D05AA3AD2B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614" y="304800"/>
            <a:ext cx="5361676" cy="303666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BDFA4DE0-3664-40AE-D6C2-304553889F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2442" y="309265"/>
            <a:ext cx="5396426" cy="3032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4" name="Picture 3">
            <a:extLst>
              <a:ext uri="{FF2B5EF4-FFF2-40B4-BE49-F238E27FC236}">
                <a16:creationId xmlns:a16="http://schemas.microsoft.com/office/drawing/2014/main" id="{13D0EDFE-1EFE-412A-A955-D4A1C7CD0F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6614" y="3660038"/>
            <a:ext cx="5361676" cy="299965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a:extLst>
              <a:ext uri="{FF2B5EF4-FFF2-40B4-BE49-F238E27FC236}">
                <a16:creationId xmlns:a16="http://schemas.microsoft.com/office/drawing/2014/main" id="{C5F82268-2680-96B8-A2A5-5FEF1B1EA6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32442" y="3614101"/>
            <a:ext cx="5396426" cy="304558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901018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2127FC2-3900-6790-360D-47164EDC00EA}"/>
              </a:ext>
            </a:extLst>
          </p:cNvPr>
          <p:cNvSpPr txBox="1">
            <a:spLocks/>
          </p:cNvSpPr>
          <p:nvPr/>
        </p:nvSpPr>
        <p:spPr>
          <a:xfrm>
            <a:off x="89524" y="266802"/>
            <a:ext cx="11916697" cy="1080217"/>
          </a:xfrm>
          <a:prstGeom prst="rect">
            <a:avLst/>
          </a:prstGeom>
          <a:solidFill>
            <a:srgbClr val="FF0000"/>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a:solidFill>
                  <a:schemeClr val="bg1"/>
                </a:solidFill>
                <a:latin typeface="Aptos Display" panose="020B0004020202020204" pitchFamily="34" charset="0"/>
              </a:rPr>
              <a:t>Advance Analytics and Performance Tracking</a:t>
            </a:r>
            <a:endParaRPr lang="en-IN" b="1" dirty="0">
              <a:solidFill>
                <a:schemeClr val="bg1"/>
              </a:solidFill>
              <a:latin typeface="Aptos Display" panose="020B0004020202020204" pitchFamily="34" charset="0"/>
            </a:endParaRPr>
          </a:p>
        </p:txBody>
      </p:sp>
      <p:sp>
        <p:nvSpPr>
          <p:cNvPr id="4" name="Content Placeholder 2">
            <a:extLst>
              <a:ext uri="{FF2B5EF4-FFF2-40B4-BE49-F238E27FC236}">
                <a16:creationId xmlns:a16="http://schemas.microsoft.com/office/drawing/2014/main" id="{F0D3DBC3-78D0-5DDC-E27B-77D17DD3B107}"/>
              </a:ext>
            </a:extLst>
          </p:cNvPr>
          <p:cNvSpPr txBox="1">
            <a:spLocks/>
          </p:cNvSpPr>
          <p:nvPr/>
        </p:nvSpPr>
        <p:spPr>
          <a:xfrm>
            <a:off x="6047873" y="1425677"/>
            <a:ext cx="5819662" cy="5266669"/>
          </a:xfrm>
          <a:prstGeom prst="rect">
            <a:avLst/>
          </a:prstGeom>
          <a:solidFill>
            <a:schemeClr val="accent5">
              <a:lumMod val="40000"/>
              <a:lumOff val="6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2000" u="sng"/>
              <a:t> </a:t>
            </a:r>
            <a:r>
              <a:rPr lang="en-IN" sz="2000" b="1" u="sng"/>
              <a:t>Countries </a:t>
            </a:r>
            <a:r>
              <a:rPr lang="en-IN" sz="2000" u="sng"/>
              <a:t> </a:t>
            </a:r>
            <a:r>
              <a:rPr lang="en-IN" sz="2000" b="1" u="sng"/>
              <a:t>Average Rating</a:t>
            </a:r>
          </a:p>
          <a:p>
            <a:r>
              <a:rPr lang="en-IN" sz="2000"/>
              <a:t>Turkey: 3.87 (18.86%)</a:t>
            </a:r>
          </a:p>
          <a:p>
            <a:r>
              <a:rPr lang="en-US" sz="2000"/>
              <a:t> United Arab Emirates (UAE): 4.29 (20.96%)</a:t>
            </a:r>
          </a:p>
          <a:p>
            <a:r>
              <a:rPr lang="en-US" sz="2000"/>
              <a:t>United Kingdom (UK): 4.0 (19.99%)</a:t>
            </a:r>
          </a:p>
          <a:p>
            <a:r>
              <a:rPr lang="en-US" sz="2000"/>
              <a:t> United States (US): 4.23 (20.59%)</a:t>
            </a:r>
          </a:p>
          <a:p>
            <a:r>
              <a:rPr lang="en-IN" sz="2000"/>
              <a:t>Sri Lanka: 4.1 (19.59%)</a:t>
            </a:r>
          </a:p>
          <a:p>
            <a:pPr marL="0" indent="0">
              <a:buFont typeface="Arial" panose="020B0604020202020204" pitchFamily="34" charset="0"/>
              <a:buNone/>
            </a:pPr>
            <a:r>
              <a:rPr lang="en-IN" sz="2000"/>
              <a:t> </a:t>
            </a:r>
            <a:r>
              <a:rPr lang="en-US" sz="2000" b="1" u="sng"/>
              <a:t>Top 5 Cuisines — Average Rating</a:t>
            </a:r>
            <a:endParaRPr lang="en-IN" sz="2000" b="1" u="sng"/>
          </a:p>
          <a:p>
            <a:r>
              <a:rPr lang="en-IN" sz="2000"/>
              <a:t> * World Cuisine: 4.9</a:t>
            </a:r>
          </a:p>
          <a:p>
            <a:r>
              <a:rPr lang="en-IN" sz="2000"/>
              <a:t>World Cuisine, Mexican, Italian: 4.4</a:t>
            </a:r>
          </a:p>
          <a:p>
            <a:r>
              <a:rPr lang="en-IN" sz="2000"/>
              <a:t> Asian, Cafe: 4.2</a:t>
            </a:r>
          </a:p>
          <a:p>
            <a:r>
              <a:rPr lang="en-IN" sz="2000"/>
              <a:t> Western, Cuisine, Patisserie, Cafe: 4.2</a:t>
            </a:r>
          </a:p>
          <a:p>
            <a:r>
              <a:rPr lang="en-IN" sz="2000"/>
              <a:t>Western, Fusion, Fast Food: 3.2</a:t>
            </a:r>
            <a:endParaRPr lang="en-IN" sz="2000" dirty="0"/>
          </a:p>
        </p:txBody>
      </p:sp>
      <p:sp>
        <p:nvSpPr>
          <p:cNvPr id="5" name="Content Placeholder 3">
            <a:extLst>
              <a:ext uri="{FF2B5EF4-FFF2-40B4-BE49-F238E27FC236}">
                <a16:creationId xmlns:a16="http://schemas.microsoft.com/office/drawing/2014/main" id="{38FF492E-C26F-9981-4401-8E399F6098DA}"/>
              </a:ext>
            </a:extLst>
          </p:cNvPr>
          <p:cNvSpPr txBox="1">
            <a:spLocks/>
          </p:cNvSpPr>
          <p:nvPr/>
        </p:nvSpPr>
        <p:spPr>
          <a:xfrm>
            <a:off x="224590" y="1425677"/>
            <a:ext cx="5684597" cy="5266669"/>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2200" b="1" u="sng"/>
              <a:t> Top KPI’s of Dashboard</a:t>
            </a:r>
          </a:p>
          <a:p>
            <a:r>
              <a:rPr lang="en-US" sz="2200"/>
              <a:t> Restaurants Counts: 9551 </a:t>
            </a:r>
          </a:p>
          <a:p>
            <a:r>
              <a:rPr lang="en-US" sz="2200"/>
              <a:t> Average of Rating: 2.89 </a:t>
            </a:r>
          </a:p>
          <a:p>
            <a:r>
              <a:rPr lang="en-US" sz="2200"/>
              <a:t>Total Votes: 1M </a:t>
            </a:r>
          </a:p>
          <a:p>
            <a:r>
              <a:rPr lang="en-US" sz="2200"/>
              <a:t>Total Cities: 141</a:t>
            </a:r>
            <a:endParaRPr lang="en-IN" sz="2200"/>
          </a:p>
          <a:p>
            <a:pPr marL="0" indent="0">
              <a:buFont typeface="Arial" panose="020B0604020202020204" pitchFamily="34" charset="0"/>
              <a:buNone/>
            </a:pPr>
            <a:r>
              <a:rPr lang="en-IN" sz="2200" b="1" u="sng"/>
              <a:t>Most Voted Restaurants</a:t>
            </a:r>
          </a:p>
          <a:p>
            <a:r>
              <a:rPr lang="en-IN" sz="2200"/>
              <a:t>Zombie Burger </a:t>
            </a:r>
          </a:p>
          <a:p>
            <a:r>
              <a:rPr lang="en-IN" sz="2200"/>
              <a:t>Zunzi’s </a:t>
            </a:r>
          </a:p>
          <a:p>
            <a:r>
              <a:rPr lang="en-IN" sz="2200"/>
              <a:t>Zuka Choco-la </a:t>
            </a:r>
          </a:p>
          <a:p>
            <a:r>
              <a:rPr lang="en-IN" sz="2200"/>
              <a:t> Zucca Pizzeria </a:t>
            </a:r>
          </a:p>
          <a:p>
            <a:r>
              <a:rPr lang="en-IN" sz="2200"/>
              <a:t>Zouk Tea Bar &amp;...</a:t>
            </a:r>
            <a:endParaRPr lang="en-IN" sz="2200" dirty="0"/>
          </a:p>
        </p:txBody>
      </p:sp>
    </p:spTree>
    <p:extLst>
      <p:ext uri="{BB962C8B-B14F-4D97-AF65-F5344CB8AC3E}">
        <p14:creationId xmlns:p14="http://schemas.microsoft.com/office/powerpoint/2010/main" val="3891860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6D274-744B-CAFC-5F8C-544386BD862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A93223D9-2AD7-9179-2980-5ECE41E4489F}"/>
              </a:ext>
            </a:extLst>
          </p:cNvPr>
          <p:cNvSpPr/>
          <p:nvPr/>
        </p:nvSpPr>
        <p:spPr>
          <a:xfrm>
            <a:off x="216935" y="690808"/>
            <a:ext cx="11758129" cy="5648246"/>
          </a:xfrm>
          <a:prstGeom prst="rect">
            <a:avLst/>
          </a:prstGeom>
          <a:solidFill>
            <a:schemeClr val="accent5">
              <a:lumMod val="20000"/>
              <a:lumOff val="8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ln w="22225">
                <a:solidFill>
                  <a:schemeClr val="accent2"/>
                </a:solidFill>
                <a:prstDash val="solid"/>
              </a:ln>
              <a:solidFill>
                <a:schemeClr val="accent2">
                  <a:lumMod val="40000"/>
                  <a:lumOff val="60000"/>
                </a:schemeClr>
              </a:solidFill>
            </a:endParaRPr>
          </a:p>
        </p:txBody>
      </p:sp>
      <p:sp>
        <p:nvSpPr>
          <p:cNvPr id="9" name="Text Placeholder 14">
            <a:extLst>
              <a:ext uri="{FF2B5EF4-FFF2-40B4-BE49-F238E27FC236}">
                <a16:creationId xmlns:a16="http://schemas.microsoft.com/office/drawing/2014/main" id="{E911146B-D588-3EC8-C98F-156598E74945}"/>
              </a:ext>
            </a:extLst>
          </p:cNvPr>
          <p:cNvSpPr txBox="1">
            <a:spLocks/>
          </p:cNvSpPr>
          <p:nvPr/>
        </p:nvSpPr>
        <p:spPr>
          <a:xfrm>
            <a:off x="216936" y="1338113"/>
            <a:ext cx="5373804" cy="451560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IN" b="1" u="sng" dirty="0">
                <a:latin typeface="Times New Roman" panose="02020603050405020304" pitchFamily="18" charset="0"/>
                <a:cs typeface="Times New Roman" panose="02020603050405020304" pitchFamily="18" charset="0"/>
              </a:rPr>
              <a:t>Challenges Faced</a:t>
            </a:r>
            <a:endParaRPr lang="en-IN" b="1" dirty="0">
              <a:latin typeface="Times New Roman" panose="02020603050405020304" pitchFamily="18" charset="0"/>
              <a:cs typeface="Times New Roman" panose="02020603050405020304" pitchFamily="18" charset="0"/>
            </a:endParaRPr>
          </a:p>
          <a:p>
            <a:pPr marL="342900" indent="-342900" algn="just"/>
            <a:r>
              <a:rPr lang="en-IN" sz="2400" b="1" dirty="0"/>
              <a:t>Data Integration Issues</a:t>
            </a:r>
            <a:r>
              <a:rPr lang="en-IN" sz="2400" dirty="0"/>
              <a:t> – Combining restaurant data from multiple cities and time periods may cause inconsistencies or missing values, especially in online/table delivery fields.</a:t>
            </a:r>
          </a:p>
          <a:p>
            <a:pPr marL="342900" indent="-342900" algn="just"/>
            <a:r>
              <a:rPr lang="en-IN" sz="2400" b="1" dirty="0"/>
              <a:t>Performance Optimization</a:t>
            </a:r>
            <a:r>
              <a:rPr lang="en-IN" sz="2400" dirty="0"/>
              <a:t> – Handling large datasets (1M+ votes, 9,551 restaurants) can slow down dashboard responsiveness and increase refresh time.</a:t>
            </a:r>
          </a:p>
          <a:p>
            <a:pPr algn="just"/>
            <a:endParaRPr lang="en-IN" sz="2400" dirty="0"/>
          </a:p>
          <a:p>
            <a:pPr marL="342900" indent="-342900" algn="just"/>
            <a:endParaRPr lang="en-IN" sz="2400" dirty="0"/>
          </a:p>
          <a:p>
            <a:endParaRPr lang="en-IN" dirty="0"/>
          </a:p>
        </p:txBody>
      </p:sp>
      <p:sp>
        <p:nvSpPr>
          <p:cNvPr id="10" name="TextBox 9">
            <a:extLst>
              <a:ext uri="{FF2B5EF4-FFF2-40B4-BE49-F238E27FC236}">
                <a16:creationId xmlns:a16="http://schemas.microsoft.com/office/drawing/2014/main" id="{C676C0C6-CBD8-6F39-FD87-5499C8B65F10}"/>
              </a:ext>
            </a:extLst>
          </p:cNvPr>
          <p:cNvSpPr txBox="1"/>
          <p:nvPr/>
        </p:nvSpPr>
        <p:spPr>
          <a:xfrm>
            <a:off x="5590739" y="844750"/>
            <a:ext cx="6193824" cy="5532797"/>
          </a:xfrm>
          <a:prstGeom prst="rect">
            <a:avLst/>
          </a:prstGeom>
          <a:noFill/>
        </p:spPr>
        <p:txBody>
          <a:bodyPr wrap="square" rtlCol="0">
            <a:spAutoFit/>
          </a:bodyPr>
          <a:lstStyle/>
          <a:p>
            <a:endParaRPr lang="en-IN" sz="2400" b="1" u="sng" dirty="0"/>
          </a:p>
          <a:p>
            <a:pPr algn="ctr">
              <a:lnSpc>
                <a:spcPct val="90000"/>
              </a:lnSpc>
              <a:spcBef>
                <a:spcPts val="1000"/>
              </a:spcBef>
            </a:pPr>
            <a:r>
              <a:rPr lang="en-IN" sz="2800" b="1" u="sng" dirty="0">
                <a:latin typeface="Times New Roman" panose="02020603050405020304" pitchFamily="18" charset="0"/>
                <a:cs typeface="Times New Roman" panose="02020603050405020304" pitchFamily="18" charset="0"/>
              </a:rPr>
              <a:t>Insights / Advantages</a:t>
            </a:r>
          </a:p>
          <a:p>
            <a:pPr marL="342900" indent="-342900" algn="just">
              <a:buFont typeface="Arial" panose="020B0604020202020204" pitchFamily="34" charset="0"/>
              <a:buChar char="•"/>
            </a:pPr>
            <a:r>
              <a:rPr lang="en-IN" sz="2400" b="1" dirty="0"/>
              <a:t>Comprehensive Overview</a:t>
            </a:r>
            <a:r>
              <a:rPr lang="en-IN" sz="2400" dirty="0"/>
              <a:t> – Provides a clear snapshot of restaurant performance (ratings, votes, cities, delivery types) in one place, aiding quick decision-making.</a:t>
            </a:r>
          </a:p>
          <a:p>
            <a:pPr marL="342900" indent="-342900" algn="just">
              <a:buFont typeface="Arial" panose="020B0604020202020204" pitchFamily="34" charset="0"/>
              <a:buChar char="•"/>
            </a:pPr>
            <a:endParaRPr lang="en-IN" sz="2400" dirty="0"/>
          </a:p>
          <a:p>
            <a:pPr marL="342900" indent="-342900" algn="just">
              <a:buFont typeface="Arial" panose="020B0604020202020204" pitchFamily="34" charset="0"/>
              <a:buChar char="•"/>
            </a:pPr>
            <a:r>
              <a:rPr lang="en-IN" sz="2400" b="1" dirty="0"/>
              <a:t>Trend Identification</a:t>
            </a:r>
            <a:r>
              <a:rPr lang="en-IN" sz="2400" dirty="0"/>
              <a:t> – Year-wise, quarter-wise, and month-wise visuals help spot growth patterns and seasonal variations in restaurant openings. </a:t>
            </a:r>
          </a:p>
          <a:p>
            <a:endParaRPr lang="en-IN" sz="2800" b="1" dirty="0"/>
          </a:p>
          <a:p>
            <a:endParaRPr lang="en-IN" sz="2800" b="1" dirty="0"/>
          </a:p>
          <a:p>
            <a:pPr marL="342900" indent="-342900">
              <a:buFont typeface="Arial" panose="020B0604020202020204" pitchFamily="34" charset="0"/>
              <a:buChar char="•"/>
            </a:pPr>
            <a:endParaRPr lang="en-IN" sz="2400" b="1" u="sng" dirty="0"/>
          </a:p>
        </p:txBody>
      </p:sp>
      <p:sp>
        <p:nvSpPr>
          <p:cNvPr id="11" name="TextBox 10">
            <a:extLst>
              <a:ext uri="{FF2B5EF4-FFF2-40B4-BE49-F238E27FC236}">
                <a16:creationId xmlns:a16="http://schemas.microsoft.com/office/drawing/2014/main" id="{03F4B7A6-0F72-81A4-DCA5-18C454C655A1}"/>
              </a:ext>
            </a:extLst>
          </p:cNvPr>
          <p:cNvSpPr txBox="1"/>
          <p:nvPr/>
        </p:nvSpPr>
        <p:spPr>
          <a:xfrm>
            <a:off x="0" y="44477"/>
            <a:ext cx="12192000" cy="646331"/>
          </a:xfrm>
          <a:prstGeom prst="rect">
            <a:avLst/>
          </a:prstGeom>
          <a:solidFill>
            <a:srgbClr val="FF0000"/>
          </a:solidFill>
        </p:spPr>
        <p:txBody>
          <a:bodyPr wrap="square" rtlCol="0">
            <a:spAutoFit/>
          </a:bodyPr>
          <a:lstStyle/>
          <a:p>
            <a:pPr algn="ctr"/>
            <a:r>
              <a:rPr lang="en-IN" sz="3600" dirty="0">
                <a:solidFill>
                  <a:schemeClr val="bg1"/>
                </a:solidFill>
              </a:rPr>
              <a:t>Zomato Analysis</a:t>
            </a:r>
          </a:p>
        </p:txBody>
      </p:sp>
    </p:spTree>
    <p:extLst>
      <p:ext uri="{BB962C8B-B14F-4D97-AF65-F5344CB8AC3E}">
        <p14:creationId xmlns:p14="http://schemas.microsoft.com/office/powerpoint/2010/main" val="3322738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6341525-252A-D7BA-0810-B77B1E6649D3}"/>
              </a:ext>
            </a:extLst>
          </p:cNvPr>
          <p:cNvSpPr/>
          <p:nvPr/>
        </p:nvSpPr>
        <p:spPr>
          <a:xfrm>
            <a:off x="116800" y="121257"/>
            <a:ext cx="11919005" cy="66154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EA065FCE-C3AA-BFD6-3F18-6CFDE12CD9DE}"/>
              </a:ext>
            </a:extLst>
          </p:cNvPr>
          <p:cNvSpPr txBox="1"/>
          <p:nvPr/>
        </p:nvSpPr>
        <p:spPr>
          <a:xfrm>
            <a:off x="307497" y="194209"/>
            <a:ext cx="3294444" cy="523220"/>
          </a:xfrm>
          <a:prstGeom prst="rect">
            <a:avLst/>
          </a:prstGeom>
          <a:noFill/>
        </p:spPr>
        <p:txBody>
          <a:bodyPr wrap="square" rtlCol="0">
            <a:spAutoFit/>
          </a:bodyPr>
          <a:lstStyle/>
          <a:p>
            <a:r>
              <a:rPr lang="en-IN" sz="2800" b="1" u="sng" dirty="0">
                <a:solidFill>
                  <a:schemeClr val="accent2"/>
                </a:solidFill>
              </a:rPr>
              <a:t>Tableau Dashboard</a:t>
            </a:r>
          </a:p>
        </p:txBody>
      </p:sp>
      <p:pic>
        <p:nvPicPr>
          <p:cNvPr id="8" name="Picture 7">
            <a:extLst>
              <a:ext uri="{FF2B5EF4-FFF2-40B4-BE49-F238E27FC236}">
                <a16:creationId xmlns:a16="http://schemas.microsoft.com/office/drawing/2014/main" id="{1D86813B-E0EC-0105-F10B-1B1D6D2369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498" y="717429"/>
            <a:ext cx="11150332" cy="5828307"/>
          </a:xfrm>
          <a:prstGeom prst="rect">
            <a:avLst/>
          </a:prstGeom>
        </p:spPr>
      </p:pic>
    </p:spTree>
    <p:extLst>
      <p:ext uri="{BB962C8B-B14F-4D97-AF65-F5344CB8AC3E}">
        <p14:creationId xmlns:p14="http://schemas.microsoft.com/office/powerpoint/2010/main" val="3502672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896AD4-9481-89E9-7C34-B30E6FE141B3}"/>
              </a:ext>
            </a:extLst>
          </p:cNvPr>
          <p:cNvSpPr/>
          <p:nvPr/>
        </p:nvSpPr>
        <p:spPr>
          <a:xfrm>
            <a:off x="136497" y="194210"/>
            <a:ext cx="11919005" cy="66154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E8EBE683-30A3-D321-3DEF-58B52D9487C3}"/>
              </a:ext>
            </a:extLst>
          </p:cNvPr>
          <p:cNvSpPr/>
          <p:nvPr/>
        </p:nvSpPr>
        <p:spPr>
          <a:xfrm>
            <a:off x="136497" y="30867"/>
            <a:ext cx="11919005" cy="66154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1" name="Picture 10">
            <a:extLst>
              <a:ext uri="{FF2B5EF4-FFF2-40B4-BE49-F238E27FC236}">
                <a16:creationId xmlns:a16="http://schemas.microsoft.com/office/drawing/2014/main" id="{BBAC8FCA-D29A-CADF-7DE9-1C78C5AAF239}"/>
              </a:ext>
            </a:extLst>
          </p:cNvPr>
          <p:cNvPicPr>
            <a:picLocks noChangeAspect="1"/>
          </p:cNvPicPr>
          <p:nvPr/>
        </p:nvPicPr>
        <p:blipFill>
          <a:blip r:embed="rId2">
            <a:extLst>
              <a:ext uri="{28A0092B-C50C-407E-A947-70E740481C1C}">
                <a14:useLocalDpi xmlns:a14="http://schemas.microsoft.com/office/drawing/2010/main" val="0"/>
              </a:ext>
            </a:extLst>
          </a:blip>
          <a:srcRect r="20283" b="3839"/>
          <a:stretch>
            <a:fillRect/>
          </a:stretch>
        </p:blipFill>
        <p:spPr>
          <a:xfrm>
            <a:off x="731795" y="837385"/>
            <a:ext cx="4500163" cy="2920478"/>
          </a:xfrm>
          <a:prstGeom prst="rect">
            <a:avLst/>
          </a:prstGeom>
          <a:ln>
            <a:noFill/>
          </a:ln>
          <a:effectLst>
            <a:outerShdw blurRad="190500" algn="tl" rotWithShape="0">
              <a:srgbClr val="000000">
                <a:alpha val="70000"/>
              </a:srgbClr>
            </a:outerShdw>
          </a:effectLst>
        </p:spPr>
      </p:pic>
      <p:sp>
        <p:nvSpPr>
          <p:cNvPr id="12" name="TextBox 11">
            <a:extLst>
              <a:ext uri="{FF2B5EF4-FFF2-40B4-BE49-F238E27FC236}">
                <a16:creationId xmlns:a16="http://schemas.microsoft.com/office/drawing/2014/main" id="{1004B167-4ACE-DA1E-CD03-FCCDB1F80EBC}"/>
              </a:ext>
            </a:extLst>
          </p:cNvPr>
          <p:cNvSpPr txBox="1"/>
          <p:nvPr/>
        </p:nvSpPr>
        <p:spPr>
          <a:xfrm>
            <a:off x="307497" y="194209"/>
            <a:ext cx="3294444" cy="523220"/>
          </a:xfrm>
          <a:prstGeom prst="rect">
            <a:avLst/>
          </a:prstGeom>
          <a:noFill/>
        </p:spPr>
        <p:txBody>
          <a:bodyPr wrap="square" rtlCol="0">
            <a:spAutoFit/>
          </a:bodyPr>
          <a:lstStyle/>
          <a:p>
            <a:r>
              <a:rPr lang="en-IN" sz="2800" b="1" u="sng" dirty="0" err="1">
                <a:solidFill>
                  <a:schemeClr val="accent2">
                    <a:lumMod val="75000"/>
                  </a:schemeClr>
                </a:solidFill>
              </a:rPr>
              <a:t>MySql</a:t>
            </a:r>
            <a:r>
              <a:rPr lang="en-IN" sz="2800" b="1" u="sng" dirty="0">
                <a:solidFill>
                  <a:schemeClr val="accent2">
                    <a:lumMod val="75000"/>
                  </a:schemeClr>
                </a:solidFill>
              </a:rPr>
              <a:t> Queries</a:t>
            </a:r>
          </a:p>
        </p:txBody>
      </p:sp>
      <p:pic>
        <p:nvPicPr>
          <p:cNvPr id="13" name="Picture 12">
            <a:extLst>
              <a:ext uri="{FF2B5EF4-FFF2-40B4-BE49-F238E27FC236}">
                <a16:creationId xmlns:a16="http://schemas.microsoft.com/office/drawing/2014/main" id="{396CB64C-07EA-F596-C8D2-5CE619491E2E}"/>
              </a:ext>
            </a:extLst>
          </p:cNvPr>
          <p:cNvPicPr>
            <a:picLocks noChangeAspect="1"/>
          </p:cNvPicPr>
          <p:nvPr/>
        </p:nvPicPr>
        <p:blipFill>
          <a:blip r:embed="rId3"/>
          <a:stretch>
            <a:fillRect/>
          </a:stretch>
        </p:blipFill>
        <p:spPr>
          <a:xfrm>
            <a:off x="731795" y="3848253"/>
            <a:ext cx="4500162" cy="2798099"/>
          </a:xfrm>
          <a:prstGeom prst="rect">
            <a:avLst/>
          </a:prstGeom>
          <a:ln>
            <a:noFill/>
          </a:ln>
          <a:effectLst>
            <a:outerShdw blurRad="190500" algn="tl" rotWithShape="0">
              <a:srgbClr val="000000">
                <a:alpha val="70000"/>
              </a:srgbClr>
            </a:outerShdw>
          </a:effectLst>
        </p:spPr>
      </p:pic>
      <p:pic>
        <p:nvPicPr>
          <p:cNvPr id="14" name="Picture 13">
            <a:extLst>
              <a:ext uri="{FF2B5EF4-FFF2-40B4-BE49-F238E27FC236}">
                <a16:creationId xmlns:a16="http://schemas.microsoft.com/office/drawing/2014/main" id="{2BA9C6D2-0B28-272C-BB44-063B71C368AD}"/>
              </a:ext>
            </a:extLst>
          </p:cNvPr>
          <p:cNvPicPr>
            <a:picLocks noChangeAspect="1"/>
          </p:cNvPicPr>
          <p:nvPr/>
        </p:nvPicPr>
        <p:blipFill>
          <a:blip r:embed="rId4"/>
          <a:stretch>
            <a:fillRect/>
          </a:stretch>
        </p:blipFill>
        <p:spPr>
          <a:xfrm>
            <a:off x="5633279" y="1979088"/>
            <a:ext cx="5731510" cy="308589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115074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6EA9978-A1BD-9D38-5FC4-9C0108003485}"/>
              </a:ext>
            </a:extLst>
          </p:cNvPr>
          <p:cNvSpPr/>
          <p:nvPr/>
        </p:nvSpPr>
        <p:spPr>
          <a:xfrm>
            <a:off x="116800" y="121257"/>
            <a:ext cx="11919005" cy="66154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57D765AC-A2E0-B82E-0252-DFDF16A88213}"/>
              </a:ext>
            </a:extLst>
          </p:cNvPr>
          <p:cNvSpPr txBox="1"/>
          <p:nvPr/>
        </p:nvSpPr>
        <p:spPr>
          <a:xfrm>
            <a:off x="307497" y="194209"/>
            <a:ext cx="3294444" cy="523220"/>
          </a:xfrm>
          <a:prstGeom prst="rect">
            <a:avLst/>
          </a:prstGeom>
          <a:noFill/>
        </p:spPr>
        <p:txBody>
          <a:bodyPr wrap="square" rtlCol="0">
            <a:spAutoFit/>
          </a:bodyPr>
          <a:lstStyle/>
          <a:p>
            <a:r>
              <a:rPr lang="en-IN" sz="2800" b="1" u="sng" dirty="0" err="1">
                <a:solidFill>
                  <a:schemeClr val="accent2">
                    <a:lumMod val="75000"/>
                  </a:schemeClr>
                </a:solidFill>
              </a:rPr>
              <a:t>MySql</a:t>
            </a:r>
            <a:r>
              <a:rPr lang="en-IN" sz="2800" b="1" u="sng" dirty="0">
                <a:solidFill>
                  <a:schemeClr val="accent2">
                    <a:lumMod val="75000"/>
                  </a:schemeClr>
                </a:solidFill>
              </a:rPr>
              <a:t> Queries</a:t>
            </a:r>
          </a:p>
        </p:txBody>
      </p:sp>
      <p:pic>
        <p:nvPicPr>
          <p:cNvPr id="6" name="Picture 5">
            <a:extLst>
              <a:ext uri="{FF2B5EF4-FFF2-40B4-BE49-F238E27FC236}">
                <a16:creationId xmlns:a16="http://schemas.microsoft.com/office/drawing/2014/main" id="{6A666794-4B95-6E79-D365-BEBA14697A0B}"/>
              </a:ext>
            </a:extLst>
          </p:cNvPr>
          <p:cNvPicPr>
            <a:picLocks noChangeAspect="1"/>
          </p:cNvPicPr>
          <p:nvPr/>
        </p:nvPicPr>
        <p:blipFill>
          <a:blip r:embed="rId2"/>
          <a:srcRect r="8277" b="2513"/>
          <a:stretch>
            <a:fillRect/>
          </a:stretch>
        </p:blipFill>
        <p:spPr>
          <a:xfrm>
            <a:off x="375727" y="790382"/>
            <a:ext cx="5110673" cy="2946732"/>
          </a:xfrm>
          <a:prstGeom prst="rect">
            <a:avLst/>
          </a:prstGeom>
          <a:ln>
            <a:noFill/>
          </a:ln>
          <a:effectLst>
            <a:outerShdw blurRad="190500" algn="tl" rotWithShape="0">
              <a:srgbClr val="000000">
                <a:alpha val="70000"/>
              </a:srgbClr>
            </a:outerShdw>
          </a:effectLst>
        </p:spPr>
      </p:pic>
      <p:pic>
        <p:nvPicPr>
          <p:cNvPr id="7" name="Picture 6">
            <a:extLst>
              <a:ext uri="{FF2B5EF4-FFF2-40B4-BE49-F238E27FC236}">
                <a16:creationId xmlns:a16="http://schemas.microsoft.com/office/drawing/2014/main" id="{9EDDF33A-AE80-C68D-61AB-545389331EB0}"/>
              </a:ext>
            </a:extLst>
          </p:cNvPr>
          <p:cNvPicPr>
            <a:picLocks noChangeAspect="1"/>
          </p:cNvPicPr>
          <p:nvPr/>
        </p:nvPicPr>
        <p:blipFill>
          <a:blip r:embed="rId3"/>
          <a:srcRect r="5503" b="11442"/>
          <a:stretch>
            <a:fillRect/>
          </a:stretch>
        </p:blipFill>
        <p:spPr>
          <a:xfrm>
            <a:off x="375727" y="3810067"/>
            <a:ext cx="5416108" cy="2573864"/>
          </a:xfrm>
          <a:prstGeom prst="rect">
            <a:avLst/>
          </a:prstGeom>
          <a:ln>
            <a:noFill/>
          </a:ln>
          <a:effectLst>
            <a:outerShdw blurRad="190500" algn="tl" rotWithShape="0">
              <a:srgbClr val="000000">
                <a:alpha val="70000"/>
              </a:srgbClr>
            </a:outerShdw>
          </a:effectLst>
        </p:spPr>
      </p:pic>
      <p:pic>
        <p:nvPicPr>
          <p:cNvPr id="8" name="Picture 7">
            <a:extLst>
              <a:ext uri="{FF2B5EF4-FFF2-40B4-BE49-F238E27FC236}">
                <a16:creationId xmlns:a16="http://schemas.microsoft.com/office/drawing/2014/main" id="{3B8458A9-FAFC-5ED1-BDE9-3EF5AA9C7968}"/>
              </a:ext>
            </a:extLst>
          </p:cNvPr>
          <p:cNvPicPr>
            <a:picLocks noChangeAspect="1"/>
          </p:cNvPicPr>
          <p:nvPr/>
        </p:nvPicPr>
        <p:blipFill>
          <a:blip r:embed="rId4"/>
          <a:srcRect r="6554" b="8885"/>
          <a:stretch>
            <a:fillRect/>
          </a:stretch>
        </p:blipFill>
        <p:spPr>
          <a:xfrm>
            <a:off x="5887251" y="790382"/>
            <a:ext cx="5355894" cy="2330504"/>
          </a:xfrm>
          <a:prstGeom prst="rect">
            <a:avLst/>
          </a:prstGeom>
          <a:ln>
            <a:noFill/>
          </a:ln>
          <a:effectLst>
            <a:outerShdw blurRad="190500" algn="tl" rotWithShape="0">
              <a:srgbClr val="000000">
                <a:alpha val="70000"/>
              </a:srgbClr>
            </a:outerShdw>
          </a:effectLst>
        </p:spPr>
      </p:pic>
      <p:pic>
        <p:nvPicPr>
          <p:cNvPr id="9" name="Picture 8">
            <a:extLst>
              <a:ext uri="{FF2B5EF4-FFF2-40B4-BE49-F238E27FC236}">
                <a16:creationId xmlns:a16="http://schemas.microsoft.com/office/drawing/2014/main" id="{F56B00C7-5CC5-CB70-9966-215100C07AE7}"/>
              </a:ext>
            </a:extLst>
          </p:cNvPr>
          <p:cNvPicPr>
            <a:picLocks noChangeAspect="1"/>
          </p:cNvPicPr>
          <p:nvPr/>
        </p:nvPicPr>
        <p:blipFill>
          <a:blip r:embed="rId5"/>
          <a:srcRect r="1562" b="3286"/>
          <a:stretch>
            <a:fillRect/>
          </a:stretch>
        </p:blipFill>
        <p:spPr>
          <a:xfrm>
            <a:off x="5895347" y="3288692"/>
            <a:ext cx="5641996" cy="333474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869788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CC9419-8186-48C1-4AEF-15CE8581FA09}"/>
              </a:ext>
            </a:extLst>
          </p:cNvPr>
          <p:cNvSpPr txBox="1"/>
          <p:nvPr/>
        </p:nvSpPr>
        <p:spPr>
          <a:xfrm>
            <a:off x="315589" y="194210"/>
            <a:ext cx="6748758" cy="523220"/>
          </a:xfrm>
          <a:prstGeom prst="rect">
            <a:avLst/>
          </a:prstGeom>
          <a:noFill/>
        </p:spPr>
        <p:txBody>
          <a:bodyPr wrap="square" rtlCol="0">
            <a:spAutoFit/>
          </a:bodyPr>
          <a:lstStyle/>
          <a:p>
            <a:r>
              <a:rPr lang="en-IN" sz="2800" b="1" u="sng" dirty="0">
                <a:solidFill>
                  <a:schemeClr val="accent1">
                    <a:lumMod val="50000"/>
                  </a:schemeClr>
                </a:solidFill>
              </a:rPr>
              <a:t>Challenges Faced In Zomato Project</a:t>
            </a:r>
          </a:p>
        </p:txBody>
      </p:sp>
      <p:sp>
        <p:nvSpPr>
          <p:cNvPr id="3" name="TextBox 2">
            <a:extLst>
              <a:ext uri="{FF2B5EF4-FFF2-40B4-BE49-F238E27FC236}">
                <a16:creationId xmlns:a16="http://schemas.microsoft.com/office/drawing/2014/main" id="{F29E9593-A8D3-D296-1011-E0963E4996DC}"/>
              </a:ext>
            </a:extLst>
          </p:cNvPr>
          <p:cNvSpPr txBox="1"/>
          <p:nvPr/>
        </p:nvSpPr>
        <p:spPr>
          <a:xfrm>
            <a:off x="412694" y="1043873"/>
            <a:ext cx="10932340" cy="4524315"/>
          </a:xfrm>
          <a:prstGeom prst="rect">
            <a:avLst/>
          </a:prstGeom>
          <a:noFill/>
        </p:spPr>
        <p:txBody>
          <a:bodyPr wrap="square" rtlCol="0">
            <a:spAutoFit/>
          </a:bodyPr>
          <a:lstStyle/>
          <a:p>
            <a:r>
              <a:rPr lang="en-IN" dirty="0"/>
              <a:t>1.</a:t>
            </a:r>
            <a:r>
              <a:rPr lang="en-IN" b="1" u="sng" dirty="0">
                <a:solidFill>
                  <a:srgbClr val="FF0000"/>
                </a:solidFill>
              </a:rPr>
              <a:t>Data modelling </a:t>
            </a:r>
          </a:p>
          <a:p>
            <a:r>
              <a:rPr lang="en-IN" dirty="0"/>
              <a:t>     Identifying each data fields in each sheet and merging the queries by comparing their common column.</a:t>
            </a:r>
          </a:p>
          <a:p>
            <a:r>
              <a:rPr lang="en-IN" dirty="0"/>
              <a:t>2.</a:t>
            </a:r>
            <a:r>
              <a:rPr lang="en-IN" b="1" u="sng" dirty="0">
                <a:solidFill>
                  <a:srgbClr val="FF0000"/>
                </a:solidFill>
              </a:rPr>
              <a:t>Data Types and null values</a:t>
            </a:r>
          </a:p>
          <a:p>
            <a:r>
              <a:rPr lang="en-IN" dirty="0"/>
              <a:t>    Detecting each columns’ data types, null values, errors, blank spaces and  removing duplicates.</a:t>
            </a:r>
          </a:p>
          <a:p>
            <a:r>
              <a:rPr lang="en-IN" dirty="0"/>
              <a:t>3.</a:t>
            </a:r>
            <a:r>
              <a:rPr lang="en-IN" b="1" u="sng" dirty="0">
                <a:solidFill>
                  <a:srgbClr val="FF0000"/>
                </a:solidFill>
              </a:rPr>
              <a:t>In Queries</a:t>
            </a:r>
          </a:p>
          <a:p>
            <a:r>
              <a:rPr lang="en-IN" dirty="0"/>
              <a:t>   </a:t>
            </a:r>
            <a:r>
              <a:rPr lang="en-US" dirty="0"/>
              <a:t>Extract fields like Quarter, Month name, year-month, rating buckets, price buckets had to be created for meaningful insights.</a:t>
            </a:r>
          </a:p>
          <a:p>
            <a:r>
              <a:rPr lang="en-US" dirty="0"/>
              <a:t>4.</a:t>
            </a:r>
            <a:r>
              <a:rPr lang="en-IN" dirty="0"/>
              <a:t> </a:t>
            </a:r>
            <a:r>
              <a:rPr lang="en-IN" b="1" u="sng" dirty="0">
                <a:solidFill>
                  <a:srgbClr val="FF0000"/>
                </a:solidFill>
              </a:rPr>
              <a:t>Understanding Business Requirements</a:t>
            </a:r>
          </a:p>
          <a:p>
            <a:r>
              <a:rPr lang="en-IN" dirty="0"/>
              <a:t>     Identifying which KPI’s  matter most for the Zomato, understanding the most effective modes of ordering, frequently ordered cuisines, highly rated restaurants in each city, time period when most orders were placed.</a:t>
            </a:r>
          </a:p>
          <a:p>
            <a:r>
              <a:rPr lang="en-IN" dirty="0"/>
              <a:t>5.</a:t>
            </a:r>
            <a:r>
              <a:rPr lang="en-IN" b="1" u="sng" dirty="0">
                <a:solidFill>
                  <a:srgbClr val="FF0000"/>
                </a:solidFill>
              </a:rPr>
              <a:t>In MySQL</a:t>
            </a:r>
          </a:p>
          <a:p>
            <a:r>
              <a:rPr lang="en-IN" dirty="0"/>
              <a:t>     Importing each Excel sheet into Mysql, converting data types using </a:t>
            </a:r>
            <a:r>
              <a:rPr lang="en-IN" b="1" dirty="0"/>
              <a:t>Alter</a:t>
            </a:r>
            <a:r>
              <a:rPr lang="en-IN" dirty="0"/>
              <a:t> statement, adding require columns.</a:t>
            </a:r>
          </a:p>
          <a:p>
            <a:r>
              <a:rPr lang="en-US" dirty="0"/>
              <a:t>Validated results with COUNT(*).</a:t>
            </a:r>
            <a:endParaRPr lang="en-IN" dirty="0"/>
          </a:p>
          <a:p>
            <a:r>
              <a:rPr lang="en-IN" dirty="0"/>
              <a:t>6.</a:t>
            </a:r>
            <a:r>
              <a:rPr lang="en-IN" b="1" u="sng" dirty="0">
                <a:solidFill>
                  <a:srgbClr val="FF0000"/>
                </a:solidFill>
              </a:rPr>
              <a:t>Effective Visualization</a:t>
            </a:r>
          </a:p>
          <a:p>
            <a:r>
              <a:rPr lang="en-IN" dirty="0"/>
              <a:t>     </a:t>
            </a:r>
            <a:r>
              <a:rPr lang="en-US" dirty="0"/>
              <a:t>Choosing correct charts to reflect business questions, identifying top rated cuisines by applying filters by using appropriate slicers</a:t>
            </a:r>
            <a:endParaRPr lang="en-IN" dirty="0"/>
          </a:p>
        </p:txBody>
      </p:sp>
    </p:spTree>
    <p:extLst>
      <p:ext uri="{BB962C8B-B14F-4D97-AF65-F5344CB8AC3E}">
        <p14:creationId xmlns:p14="http://schemas.microsoft.com/office/powerpoint/2010/main" val="899524241"/>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docProps/app.xml><?xml version="1.0" encoding="utf-8"?>
<Properties xmlns="http://schemas.openxmlformats.org/officeDocument/2006/extended-properties" xmlns:vt="http://schemas.openxmlformats.org/officeDocument/2006/docPropsVTypes">
  <Template>TM03457444[[fn=Basis]]</Template>
  <TotalTime>85</TotalTime>
  <Words>686</Words>
  <Application>Microsoft Office PowerPoint</Application>
  <PresentationFormat>Widescreen</PresentationFormat>
  <Paragraphs>84</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Aptos Display</vt:lpstr>
      <vt:lpstr>Arial</vt:lpstr>
      <vt:lpstr>Arial Black</vt:lpstr>
      <vt:lpstr>Calibri</vt:lpstr>
      <vt:lpstr>Corbel</vt:lpstr>
      <vt:lpstr>Maiandra GD</vt:lpstr>
      <vt:lpstr>Times New Roman</vt:lpstr>
      <vt:lpstr>Basis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LUCKY TONY</cp:lastModifiedBy>
  <cp:revision>6</cp:revision>
  <dcterms:created xsi:type="dcterms:W3CDTF">2025-10-26T13:22:52Z</dcterms:created>
  <dcterms:modified xsi:type="dcterms:W3CDTF">2025-10-28T12:27:17Z</dcterms:modified>
</cp:coreProperties>
</file>